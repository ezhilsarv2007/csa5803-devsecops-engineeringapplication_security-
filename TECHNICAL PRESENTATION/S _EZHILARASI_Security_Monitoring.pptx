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5" r:id="rId2"/>
    <p:sldId id="266" r:id="rId3"/>
    <p:sldId id="267" r:id="rId4"/>
    <p:sldId id="268" r:id="rId5"/>
    <p:sldId id="269" r:id="rId6"/>
    <p:sldId id="270" r:id="rId7"/>
    <p:sldId id="271" r:id="rId8"/>
    <p:sldId id="29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82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529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IDS vs IPS is a very high-probability exam table. Also briefly recap EDR vs XDR here - full comparison table is in the accompanying study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analysis introduction. This section sets up the practical mechanics behind the monitoring architecture from Slide 8 - logs are the fuel the whole pipeline runs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core log types shown here; Kubernetes and Docker logs extend this same set, detailed in the accompanying study notes. Each log type captures a different layer of system behavior.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collection pipeline diagram - a common 10-mark question. Name-drop Filebeat, Fluentd, Logstash, and Elasticsearch explicitly, since students should recognize each tool's role.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Six-step log analysis workflow. Emphasize normalization as the unsung hero step - without it, correlation across heterogeneous tools silently fails.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 lifecycle diagram. Alert fatigue is a very high-value exam concept - directly parallel to the security-gate alert fatigue problem from Unit II's CI/CD coverage.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SIEM architecture diagram plus four leading commercial/open platforms. SIEM vs SOAR is a high-probability 5-mark table question - keep it concise and precise.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and remind students that this deck's slide numbers map directly to the syllabus on Slide 2. Point them to the exam question bank on Slide 36 as their final study checklist for the entire CSA58 course.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MONITORING TECHNIQUES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Intrusion Detection and Prevention</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shield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40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292608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3152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IDS</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IPS</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731520">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Placement</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Passive (out-of-band, monitors a copy of traffic)</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Inline (in the direct traffic path)</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Action on Detection</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Generates an alert only</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Can actively block or drop malicious traffic</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Risk Profile</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Lower operational risk (no blocking)</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tc>
                  <a:txBody>
                    <a:bodyPr/>
                    <a:lstStyle/>
                    <a:p>
                      <a:pPr marL="0" indent="0">
                        <a:buNone/>
                      </a:pPr>
                      <a:r>
                        <a:rPr lang="en-US" sz="1400" dirty="0">
                          <a:solidFill>
                            <a:srgbClr val="1B2635"/>
                          </a:solidFill>
                          <a:latin typeface="Calibri" pitchFamily="34" charset="0"/>
                          <a:ea typeface="Calibri" pitchFamily="34" charset="-122"/>
                          <a:cs typeface="Calibri" pitchFamily="34" charset="-120"/>
                        </a:rPr>
                        <a:t>Can disrupt legitimate traffic if misconfigured</a:t>
                      </a:r>
                      <a:endParaRPr lang="en-US" sz="1400" dirty="0">
                        <a:latin typeface="Calibri" charset="0"/>
                        <a:ea typeface="Calibri" charset="0"/>
                        <a:cs typeface="Calibri" charset="0"/>
                      </a:endParaRPr>
                    </a:p>
                  </a:txBody>
                  <a:tcPr anchor="ctr">
                    <a:lnL w="9525" cap="flat" cmpd="sng" algn="ctr">
                      <a:solidFill>
                        <a:srgbClr val="D8E0EA"/>
                      </a:solidFill>
                      <a:prstDash val="solid"/>
                      <a:round/>
                      <a:headEnd type="none" w="med" len="med"/>
                      <a:tailEnd type="none" w="med" len="med"/>
                    </a:lnL>
                    <a:lnR w="9525" cap="flat" cmpd="sng" algn="ctr">
                      <a:solidFill>
                        <a:srgbClr val="D8E0EA"/>
                      </a:solidFill>
                      <a:prstDash val="solid"/>
                      <a:round/>
                      <a:headEnd type="none" w="med" len="med"/>
                      <a:tailEnd type="none" w="med" len="med"/>
                    </a:lnR>
                    <a:lnT w="9525" cap="flat" cmpd="sng" algn="ctr">
                      <a:solidFill>
                        <a:srgbClr val="D8E0EA"/>
                      </a:solidFill>
                      <a:prstDash val="solid"/>
                      <a:round/>
                      <a:headEnd type="none" w="med" len="med"/>
                      <a:tailEnd type="none" w="med" len="med"/>
                    </a:lnT>
                    <a:lnB w="9525" cap="flat" cmpd="sng" algn="ctr">
                      <a:solidFill>
                        <a:srgbClr val="D8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6"/>
          <p:cNvSpPr/>
          <p:nvPr/>
        </p:nvSpPr>
        <p:spPr>
          <a:xfrm>
            <a:off x="548640" y="4709160"/>
            <a:ext cx="11064240" cy="173736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1B2635"/>
                </a:solidFill>
                <a:latin typeface="Calibri" pitchFamily="34" charset="0"/>
                <a:ea typeface="Calibri" pitchFamily="34" charset="-122"/>
                <a:cs typeface="Calibri" pitchFamily="34" charset="-120"/>
              </a:rPr>
              <a:t>EDR: deep endpoint telemetry and investigation tools for a single device</a:t>
            </a:r>
            <a:endParaRPr lang="en-US" sz="1400" dirty="0"/>
          </a:p>
          <a:p>
            <a:pPr marL="228600" indent="-228600">
              <a:lnSpc>
                <a:spcPct val="115000"/>
              </a:lnSpc>
              <a:spcAft>
                <a:spcPts val="1200"/>
              </a:spcAft>
              <a:buSzPct val="100000"/>
              <a:buChar char="▪"/>
            </a:pPr>
            <a:r>
              <a:rPr lang="en-US" sz="1400" dirty="0">
                <a:solidFill>
                  <a:srgbClr val="1B2635"/>
                </a:solidFill>
                <a:latin typeface="Calibri" pitchFamily="34" charset="0"/>
                <a:ea typeface="Calibri" pitchFamily="34" charset="-122"/>
                <a:cs typeface="Calibri" pitchFamily="34" charset="-120"/>
              </a:rPr>
              <a:t>XDR: correlates telemetry across endpoints, network, cloud, and email for unified detection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LOG ANALYSIS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Introduction to Log Analysis</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file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40</a:t>
            </a:r>
            <a:endParaRPr lang="en-US" sz="900" dirty="0"/>
          </a:p>
        </p:txBody>
      </p:sp>
      <p:sp>
        <p:nvSpPr>
          <p:cNvPr id="9" name="Text 6"/>
          <p:cNvSpPr/>
          <p:nvPr/>
        </p:nvSpPr>
        <p:spPr>
          <a:xfrm>
            <a:off x="548640" y="1508760"/>
            <a:ext cx="11064240" cy="4663440"/>
          </a:xfrm>
          <a:prstGeom prst="rect">
            <a:avLst/>
          </a:prstGeom>
          <a:noFill/>
          <a:ln/>
        </p:spPr>
        <p:txBody>
          <a:bodyPr wrap="square" rtlCol="0" anchor="t"/>
          <a:lstStyle/>
          <a:p>
            <a:pPr marL="228600" indent="-228600">
              <a:lnSpc>
                <a:spcPct val="115000"/>
              </a:lnSpc>
              <a:spcAft>
                <a:spcPts val="1200"/>
              </a:spcAft>
              <a:buSzPct val="100000"/>
              <a:buChar char="▪"/>
            </a:pPr>
            <a:r>
              <a:rPr lang="en-US" sz="1500" dirty="0">
                <a:solidFill>
                  <a:srgbClr val="1B2635"/>
                </a:solidFill>
                <a:latin typeface="Calibri" pitchFamily="34" charset="0"/>
                <a:ea typeface="Calibri" pitchFamily="34" charset="-122"/>
                <a:cs typeface="Calibri" pitchFamily="34" charset="-120"/>
              </a:rPr>
              <a:t>A log is a timestamped record of an event: a request, an error, a login, a configuration change</a:t>
            </a:r>
            <a:endParaRPr lang="en-US" sz="1500" dirty="0"/>
          </a:p>
          <a:p>
            <a:pPr marL="228600" indent="-228600">
              <a:lnSpc>
                <a:spcPct val="115000"/>
              </a:lnSpc>
              <a:spcAft>
                <a:spcPts val="1200"/>
              </a:spcAft>
              <a:buSzPct val="100000"/>
              <a:buChar char="▪"/>
            </a:pPr>
            <a:r>
              <a:rPr lang="en-US" sz="1500" dirty="0">
                <a:solidFill>
                  <a:srgbClr val="1B2635"/>
                </a:solidFill>
                <a:latin typeface="Calibri" pitchFamily="34" charset="0"/>
                <a:ea typeface="Calibri" pitchFamily="34" charset="-122"/>
                <a:cs typeface="Calibri" pitchFamily="34" charset="-120"/>
              </a:rPr>
              <a:t>Logs are the raw material from which nearly all monitoring, incident response, and forensics is built</a:t>
            </a:r>
            <a:endParaRPr lang="en-US" sz="1500" dirty="0"/>
          </a:p>
          <a:p>
            <a:pPr marL="228600" indent="-228600">
              <a:lnSpc>
                <a:spcPct val="115000"/>
              </a:lnSpc>
              <a:spcAft>
                <a:spcPts val="1200"/>
              </a:spcAft>
              <a:buSzPct val="100000"/>
              <a:buChar char="▪"/>
            </a:pPr>
            <a:r>
              <a:rPr lang="en-US" sz="1500" dirty="0">
                <a:solidFill>
                  <a:srgbClr val="1B2635"/>
                </a:solidFill>
                <a:latin typeface="Calibri" pitchFamily="34" charset="0"/>
                <a:ea typeface="Calibri" pitchFamily="34" charset="-122"/>
                <a:cs typeface="Calibri" pitchFamily="34" charset="-120"/>
              </a:rPr>
              <a:t>Log parsing extracts structured fields from raw, often unstructured log text</a:t>
            </a:r>
            <a:endParaRPr lang="en-US" sz="1500" dirty="0"/>
          </a:p>
          <a:p>
            <a:pPr marL="228600" indent="-228600">
              <a:lnSpc>
                <a:spcPct val="115000"/>
              </a:lnSpc>
              <a:spcAft>
                <a:spcPts val="1200"/>
              </a:spcAft>
              <a:buSzPct val="100000"/>
              <a:buChar char="▪"/>
            </a:pPr>
            <a:r>
              <a:rPr lang="en-US" sz="1500" dirty="0">
                <a:solidFill>
                  <a:srgbClr val="1B2635"/>
                </a:solidFill>
                <a:latin typeface="Calibri" pitchFamily="34" charset="0"/>
                <a:ea typeface="Calibri" pitchFamily="34" charset="-122"/>
                <a:cs typeface="Calibri" pitchFamily="34" charset="-120"/>
              </a:rPr>
              <a:t>Log correlation links related events across otherwise separate log sources to reveal hidden patterns</a:t>
            </a:r>
            <a:endParaRPr lang="en-US" sz="1500" dirty="0"/>
          </a:p>
          <a:p>
            <a:pPr marL="228600" indent="-228600">
              <a:lnSpc>
                <a:spcPct val="115000"/>
              </a:lnSpc>
              <a:spcAft>
                <a:spcPts val="1200"/>
              </a:spcAft>
              <a:buSzPct val="100000"/>
              <a:buChar char="▪"/>
            </a:pPr>
            <a:r>
              <a:rPr lang="en-US" sz="1500" dirty="0">
                <a:solidFill>
                  <a:srgbClr val="1B2635"/>
                </a:solidFill>
                <a:latin typeface="Calibri" pitchFamily="34" charset="0"/>
                <a:ea typeface="Calibri" pitchFamily="34" charset="-122"/>
                <a:cs typeface="Calibri" pitchFamily="34" charset="-120"/>
              </a:rPr>
              <a:t>Without reliable log analysis, security monitoring (Slide 8) has no meaningful data to correlate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LOG ANALYSIS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Types of Logs</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database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40</a:t>
            </a:r>
            <a:endParaRPr lang="en-US" sz="900" dirty="0"/>
          </a:p>
        </p:txBody>
      </p:sp>
      <p:sp>
        <p:nvSpPr>
          <p:cNvPr id="9" name="Shape 6"/>
          <p:cNvSpPr/>
          <p:nvPr/>
        </p:nvSpPr>
        <p:spPr>
          <a:xfrm>
            <a:off x="548640" y="1554480"/>
            <a:ext cx="2157984" cy="4617720"/>
          </a:xfrm>
          <a:prstGeom prst="roundRect">
            <a:avLst>
              <a:gd name="adj" fmla="val 3390"/>
            </a:avLst>
          </a:prstGeom>
          <a:solidFill>
            <a:srgbClr val="FFFFFF"/>
          </a:solidFill>
          <a:ln/>
          <a:effectLst>
            <a:outerShdw blurRad="101600" dist="25400" dir="5400000" algn="bl" rotWithShape="0">
              <a:srgbClr val="1B2635">
                <a:alpha val="10000"/>
              </a:srgbClr>
            </a:outerShdw>
          </a:effectLst>
        </p:spPr>
      </p:sp>
      <p:sp>
        <p:nvSpPr>
          <p:cNvPr id="10" name="Shape 7"/>
          <p:cNvSpPr/>
          <p:nvPr/>
        </p:nvSpPr>
        <p:spPr>
          <a:xfrm>
            <a:off x="1353312" y="1783080"/>
            <a:ext cx="548640" cy="548640"/>
          </a:xfrm>
          <a:prstGeom prst="ellipse">
            <a:avLst/>
          </a:prstGeom>
          <a:solidFill>
            <a:srgbClr val="EAF6FB"/>
          </a:solidFill>
          <a:ln/>
        </p:spPr>
      </p:sp>
      <p:pic>
        <p:nvPicPr>
          <p:cNvPr id="11" name="Image 1" descr="/home/claude/devsecops5/icons/code_navy.png"/>
          <p:cNvPicPr>
            <a:picLocks noChangeAspect="1"/>
          </p:cNvPicPr>
          <p:nvPr/>
        </p:nvPicPr>
        <p:blipFill>
          <a:blip r:embed="rId4"/>
          <a:stretch>
            <a:fillRect/>
          </a:stretch>
        </p:blipFill>
        <p:spPr>
          <a:xfrm>
            <a:off x="1424635" y="1854403"/>
            <a:ext cx="405994" cy="405994"/>
          </a:xfrm>
          <a:prstGeom prst="rect">
            <a:avLst/>
          </a:prstGeom>
        </p:spPr>
      </p:pic>
      <p:sp>
        <p:nvSpPr>
          <p:cNvPr id="12" name="Text 8"/>
          <p:cNvSpPr/>
          <p:nvPr/>
        </p:nvSpPr>
        <p:spPr>
          <a:xfrm>
            <a:off x="621792" y="2468880"/>
            <a:ext cx="2011680" cy="54864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Application Logs</a:t>
            </a:r>
            <a:endParaRPr lang="en-US" sz="1250" dirty="0"/>
          </a:p>
        </p:txBody>
      </p:sp>
      <p:sp>
        <p:nvSpPr>
          <p:cNvPr id="13" name="Text 9"/>
          <p:cNvSpPr/>
          <p:nvPr/>
        </p:nvSpPr>
        <p:spPr>
          <a:xfrm>
            <a:off x="685800" y="3063240"/>
            <a:ext cx="1883664" cy="2926080"/>
          </a:xfrm>
          <a:prstGeom prst="rect">
            <a:avLst/>
          </a:prstGeom>
          <a:noFill/>
          <a:ln/>
        </p:spPr>
        <p:txBody>
          <a:bodyPr wrap="square" lIns="0" tIns="0" rIns="0" bIns="0" rtlCol="0" anchor="t"/>
          <a:lstStyle/>
          <a:p>
            <a:pPr marL="0" indent="0" algn="ctr">
              <a:buNone/>
            </a:pPr>
            <a:r>
              <a:rPr lang="en-US" sz="1050" dirty="0">
                <a:solidFill>
                  <a:srgbClr val="1B2635"/>
                </a:solidFill>
                <a:latin typeface="Calibri" pitchFamily="34" charset="0"/>
                <a:ea typeface="Calibri" pitchFamily="34" charset="-122"/>
                <a:cs typeface="Calibri" pitchFamily="34" charset="-120"/>
              </a:rPr>
              <a:t>Events generated by application code itself</a:t>
            </a:r>
            <a:endParaRPr lang="en-US" sz="1050" dirty="0"/>
          </a:p>
        </p:txBody>
      </p:sp>
      <p:sp>
        <p:nvSpPr>
          <p:cNvPr id="14" name="Shape 10"/>
          <p:cNvSpPr/>
          <p:nvPr/>
        </p:nvSpPr>
        <p:spPr>
          <a:xfrm>
            <a:off x="2761488" y="1554480"/>
            <a:ext cx="2157984" cy="4617720"/>
          </a:xfrm>
          <a:prstGeom prst="roundRect">
            <a:avLst>
              <a:gd name="adj" fmla="val 3390"/>
            </a:avLst>
          </a:prstGeom>
          <a:solidFill>
            <a:srgbClr val="FFFFFF"/>
          </a:solidFill>
          <a:ln/>
          <a:effectLst>
            <a:outerShdw blurRad="101600" dist="25400" dir="5400000" algn="bl" rotWithShape="0">
              <a:srgbClr val="1B2635">
                <a:alpha val="10000"/>
              </a:srgbClr>
            </a:outerShdw>
          </a:effectLst>
        </p:spPr>
      </p:sp>
      <p:sp>
        <p:nvSpPr>
          <p:cNvPr id="15" name="Shape 11"/>
          <p:cNvSpPr/>
          <p:nvPr/>
        </p:nvSpPr>
        <p:spPr>
          <a:xfrm>
            <a:off x="3566160" y="1783080"/>
            <a:ext cx="548640" cy="548640"/>
          </a:xfrm>
          <a:prstGeom prst="ellipse">
            <a:avLst/>
          </a:prstGeom>
          <a:solidFill>
            <a:srgbClr val="EAF6FB"/>
          </a:solidFill>
          <a:ln/>
        </p:spPr>
      </p:sp>
      <p:pic>
        <p:nvPicPr>
          <p:cNvPr id="16" name="Image 2" descr="/home/claude/devsecops5/icons/server_navy.png"/>
          <p:cNvPicPr>
            <a:picLocks noChangeAspect="1"/>
          </p:cNvPicPr>
          <p:nvPr/>
        </p:nvPicPr>
        <p:blipFill>
          <a:blip r:embed="rId5"/>
          <a:stretch>
            <a:fillRect/>
          </a:stretch>
        </p:blipFill>
        <p:spPr>
          <a:xfrm>
            <a:off x="3637483" y="1854403"/>
            <a:ext cx="405994" cy="405994"/>
          </a:xfrm>
          <a:prstGeom prst="rect">
            <a:avLst/>
          </a:prstGeom>
        </p:spPr>
      </p:pic>
      <p:sp>
        <p:nvSpPr>
          <p:cNvPr id="17" name="Text 12"/>
          <p:cNvSpPr/>
          <p:nvPr/>
        </p:nvSpPr>
        <p:spPr>
          <a:xfrm>
            <a:off x="2834640" y="2468880"/>
            <a:ext cx="2011680" cy="54864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System Logs</a:t>
            </a:r>
            <a:endParaRPr lang="en-US" sz="1250" dirty="0"/>
          </a:p>
        </p:txBody>
      </p:sp>
      <p:sp>
        <p:nvSpPr>
          <p:cNvPr id="18" name="Text 13"/>
          <p:cNvSpPr/>
          <p:nvPr/>
        </p:nvSpPr>
        <p:spPr>
          <a:xfrm>
            <a:off x="2898648" y="3063240"/>
            <a:ext cx="1883664" cy="2926080"/>
          </a:xfrm>
          <a:prstGeom prst="rect">
            <a:avLst/>
          </a:prstGeom>
          <a:noFill/>
          <a:ln/>
        </p:spPr>
        <p:txBody>
          <a:bodyPr wrap="square" lIns="0" tIns="0" rIns="0" bIns="0" rtlCol="0" anchor="t"/>
          <a:lstStyle/>
          <a:p>
            <a:pPr marL="0" indent="0" algn="ctr">
              <a:buNone/>
            </a:pPr>
            <a:r>
              <a:rPr lang="en-US" sz="1050" dirty="0">
                <a:solidFill>
                  <a:srgbClr val="1B2635"/>
                </a:solidFill>
                <a:latin typeface="Calibri" pitchFamily="34" charset="0"/>
                <a:ea typeface="Calibri" pitchFamily="34" charset="-122"/>
                <a:cs typeface="Calibri" pitchFamily="34" charset="-120"/>
              </a:rPr>
              <a:t>OS and server-level events</a:t>
            </a:r>
            <a:endParaRPr lang="en-US" sz="1050" dirty="0"/>
          </a:p>
        </p:txBody>
      </p:sp>
      <p:sp>
        <p:nvSpPr>
          <p:cNvPr id="19" name="Shape 14"/>
          <p:cNvSpPr/>
          <p:nvPr/>
        </p:nvSpPr>
        <p:spPr>
          <a:xfrm>
            <a:off x="4974336" y="1554480"/>
            <a:ext cx="2157984" cy="4617720"/>
          </a:xfrm>
          <a:prstGeom prst="roundRect">
            <a:avLst>
              <a:gd name="adj" fmla="val 3390"/>
            </a:avLst>
          </a:prstGeom>
          <a:solidFill>
            <a:srgbClr val="FFFFFF"/>
          </a:solidFill>
          <a:ln/>
          <a:effectLst>
            <a:outerShdw blurRad="101600" dist="25400" dir="5400000" algn="bl" rotWithShape="0">
              <a:srgbClr val="1B2635">
                <a:alpha val="10000"/>
              </a:srgbClr>
            </a:outerShdw>
          </a:effectLst>
        </p:spPr>
      </p:sp>
      <p:sp>
        <p:nvSpPr>
          <p:cNvPr id="20" name="Shape 15"/>
          <p:cNvSpPr/>
          <p:nvPr/>
        </p:nvSpPr>
        <p:spPr>
          <a:xfrm>
            <a:off x="5779008" y="1783080"/>
            <a:ext cx="548640" cy="548640"/>
          </a:xfrm>
          <a:prstGeom prst="ellipse">
            <a:avLst/>
          </a:prstGeom>
          <a:solidFill>
            <a:srgbClr val="EAF6FB"/>
          </a:solidFill>
          <a:ln/>
        </p:spPr>
      </p:sp>
      <p:pic>
        <p:nvPicPr>
          <p:cNvPr id="21" name="Image 3" descr="/home/claude/devsecops5/icons/shield_navy.png"/>
          <p:cNvPicPr>
            <a:picLocks noChangeAspect="1"/>
          </p:cNvPicPr>
          <p:nvPr/>
        </p:nvPicPr>
        <p:blipFill>
          <a:blip r:embed="rId6"/>
          <a:stretch>
            <a:fillRect/>
          </a:stretch>
        </p:blipFill>
        <p:spPr>
          <a:xfrm>
            <a:off x="5850331" y="1854403"/>
            <a:ext cx="405994" cy="405994"/>
          </a:xfrm>
          <a:prstGeom prst="rect">
            <a:avLst/>
          </a:prstGeom>
        </p:spPr>
      </p:pic>
      <p:sp>
        <p:nvSpPr>
          <p:cNvPr id="22" name="Text 16"/>
          <p:cNvSpPr/>
          <p:nvPr/>
        </p:nvSpPr>
        <p:spPr>
          <a:xfrm>
            <a:off x="5047488" y="2468880"/>
            <a:ext cx="2011680" cy="54864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Security Logs</a:t>
            </a:r>
            <a:endParaRPr lang="en-US" sz="1250" dirty="0"/>
          </a:p>
        </p:txBody>
      </p:sp>
      <p:sp>
        <p:nvSpPr>
          <p:cNvPr id="23" name="Text 17"/>
          <p:cNvSpPr/>
          <p:nvPr/>
        </p:nvSpPr>
        <p:spPr>
          <a:xfrm>
            <a:off x="5111496" y="3063240"/>
            <a:ext cx="1883664" cy="2926080"/>
          </a:xfrm>
          <a:prstGeom prst="rect">
            <a:avLst/>
          </a:prstGeom>
          <a:noFill/>
          <a:ln/>
        </p:spPr>
        <p:txBody>
          <a:bodyPr wrap="square" lIns="0" tIns="0" rIns="0" bIns="0" rtlCol="0" anchor="t"/>
          <a:lstStyle/>
          <a:p>
            <a:pPr marL="0" indent="0" algn="ctr">
              <a:buNone/>
            </a:pPr>
            <a:r>
              <a:rPr lang="en-US" sz="1050" dirty="0">
                <a:solidFill>
                  <a:srgbClr val="1B2635"/>
                </a:solidFill>
                <a:latin typeface="Calibri" pitchFamily="34" charset="0"/>
                <a:ea typeface="Calibri" pitchFamily="34" charset="-122"/>
                <a:cs typeface="Calibri" pitchFamily="34" charset="-120"/>
              </a:rPr>
              <a:t>Authentication and security-tool events</a:t>
            </a:r>
            <a:endParaRPr lang="en-US" sz="1050" dirty="0"/>
          </a:p>
        </p:txBody>
      </p:sp>
      <p:sp>
        <p:nvSpPr>
          <p:cNvPr id="24" name="Shape 18"/>
          <p:cNvSpPr/>
          <p:nvPr/>
        </p:nvSpPr>
        <p:spPr>
          <a:xfrm>
            <a:off x="7187184" y="1554480"/>
            <a:ext cx="2157984" cy="4617720"/>
          </a:xfrm>
          <a:prstGeom prst="roundRect">
            <a:avLst>
              <a:gd name="adj" fmla="val 3390"/>
            </a:avLst>
          </a:prstGeom>
          <a:solidFill>
            <a:srgbClr val="FFFFFF"/>
          </a:solidFill>
          <a:ln/>
          <a:effectLst>
            <a:outerShdw blurRad="101600" dist="25400" dir="5400000" algn="bl" rotWithShape="0">
              <a:srgbClr val="1B2635">
                <a:alpha val="10000"/>
              </a:srgbClr>
            </a:outerShdw>
          </a:effectLst>
        </p:spPr>
      </p:sp>
      <p:sp>
        <p:nvSpPr>
          <p:cNvPr id="25" name="Shape 19"/>
          <p:cNvSpPr/>
          <p:nvPr/>
        </p:nvSpPr>
        <p:spPr>
          <a:xfrm>
            <a:off x="7991856" y="1783080"/>
            <a:ext cx="548640" cy="548640"/>
          </a:xfrm>
          <a:prstGeom prst="ellipse">
            <a:avLst/>
          </a:prstGeom>
          <a:solidFill>
            <a:srgbClr val="EAF6FB"/>
          </a:solidFill>
          <a:ln/>
        </p:spPr>
      </p:sp>
      <p:pic>
        <p:nvPicPr>
          <p:cNvPr id="26" name="Image 4" descr="/home/claude/devsecops5/icons/file_navy.png"/>
          <p:cNvPicPr>
            <a:picLocks noChangeAspect="1"/>
          </p:cNvPicPr>
          <p:nvPr/>
        </p:nvPicPr>
        <p:blipFill>
          <a:blip r:embed="rId7"/>
          <a:stretch>
            <a:fillRect/>
          </a:stretch>
        </p:blipFill>
        <p:spPr>
          <a:xfrm>
            <a:off x="8063179" y="1854403"/>
            <a:ext cx="405994" cy="405994"/>
          </a:xfrm>
          <a:prstGeom prst="rect">
            <a:avLst/>
          </a:prstGeom>
        </p:spPr>
      </p:pic>
      <p:sp>
        <p:nvSpPr>
          <p:cNvPr id="27" name="Text 20"/>
          <p:cNvSpPr/>
          <p:nvPr/>
        </p:nvSpPr>
        <p:spPr>
          <a:xfrm>
            <a:off x="7260336" y="2468880"/>
            <a:ext cx="2011680" cy="54864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Audit Logs</a:t>
            </a:r>
            <a:endParaRPr lang="en-US" sz="1250" dirty="0"/>
          </a:p>
        </p:txBody>
      </p:sp>
      <p:sp>
        <p:nvSpPr>
          <p:cNvPr id="28" name="Text 21"/>
          <p:cNvSpPr/>
          <p:nvPr/>
        </p:nvSpPr>
        <p:spPr>
          <a:xfrm>
            <a:off x="7324344" y="3063240"/>
            <a:ext cx="1883664" cy="2926080"/>
          </a:xfrm>
          <a:prstGeom prst="rect">
            <a:avLst/>
          </a:prstGeom>
          <a:noFill/>
          <a:ln/>
        </p:spPr>
        <p:txBody>
          <a:bodyPr wrap="square" lIns="0" tIns="0" rIns="0" bIns="0" rtlCol="0" anchor="t"/>
          <a:lstStyle/>
          <a:p>
            <a:pPr marL="0" indent="0" algn="ctr">
              <a:buNone/>
            </a:pPr>
            <a:r>
              <a:rPr lang="en-US" sz="1050" dirty="0">
                <a:solidFill>
                  <a:srgbClr val="1B2635"/>
                </a:solidFill>
                <a:latin typeface="Calibri" pitchFamily="34" charset="0"/>
                <a:ea typeface="Calibri" pitchFamily="34" charset="-122"/>
                <a:cs typeface="Calibri" pitchFamily="34" charset="-120"/>
              </a:rPr>
              <a:t>Records of who did what, when, for accountability</a:t>
            </a:r>
            <a:endParaRPr lang="en-US" sz="1050" dirty="0"/>
          </a:p>
        </p:txBody>
      </p:sp>
      <p:sp>
        <p:nvSpPr>
          <p:cNvPr id="29" name="Shape 22"/>
          <p:cNvSpPr/>
          <p:nvPr/>
        </p:nvSpPr>
        <p:spPr>
          <a:xfrm>
            <a:off x="9400032" y="1554480"/>
            <a:ext cx="2157984" cy="4617720"/>
          </a:xfrm>
          <a:prstGeom prst="roundRect">
            <a:avLst>
              <a:gd name="adj" fmla="val 3390"/>
            </a:avLst>
          </a:prstGeom>
          <a:solidFill>
            <a:srgbClr val="FFFFFF"/>
          </a:solidFill>
          <a:ln/>
          <a:effectLst>
            <a:outerShdw blurRad="101600" dist="25400" dir="5400000" algn="bl" rotWithShape="0">
              <a:srgbClr val="1B2635">
                <a:alpha val="10000"/>
              </a:srgbClr>
            </a:outerShdw>
          </a:effectLst>
        </p:spPr>
      </p:sp>
      <p:sp>
        <p:nvSpPr>
          <p:cNvPr id="30" name="Shape 23"/>
          <p:cNvSpPr/>
          <p:nvPr/>
        </p:nvSpPr>
        <p:spPr>
          <a:xfrm>
            <a:off x="10204704" y="1783080"/>
            <a:ext cx="548640" cy="548640"/>
          </a:xfrm>
          <a:prstGeom prst="ellipse">
            <a:avLst/>
          </a:prstGeom>
          <a:solidFill>
            <a:srgbClr val="EAF6FB"/>
          </a:solidFill>
          <a:ln/>
        </p:spPr>
      </p:sp>
      <p:pic>
        <p:nvPicPr>
          <p:cNvPr id="31" name="Image 5" descr="/home/claude/devsecops5/icons/cloud_navy.png"/>
          <p:cNvPicPr>
            <a:picLocks noChangeAspect="1"/>
          </p:cNvPicPr>
          <p:nvPr/>
        </p:nvPicPr>
        <p:blipFill>
          <a:blip r:embed="rId8"/>
          <a:stretch>
            <a:fillRect/>
          </a:stretch>
        </p:blipFill>
        <p:spPr>
          <a:xfrm>
            <a:off x="10276027" y="1854403"/>
            <a:ext cx="405994" cy="405994"/>
          </a:xfrm>
          <a:prstGeom prst="rect">
            <a:avLst/>
          </a:prstGeom>
        </p:spPr>
      </p:pic>
      <p:sp>
        <p:nvSpPr>
          <p:cNvPr id="32" name="Text 24"/>
          <p:cNvSpPr/>
          <p:nvPr/>
        </p:nvSpPr>
        <p:spPr>
          <a:xfrm>
            <a:off x="9473184" y="2468880"/>
            <a:ext cx="2011680" cy="54864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Cloud Logs</a:t>
            </a:r>
            <a:endParaRPr lang="en-US" sz="1250" dirty="0"/>
          </a:p>
        </p:txBody>
      </p:sp>
      <p:sp>
        <p:nvSpPr>
          <p:cNvPr id="33" name="Text 25"/>
          <p:cNvSpPr/>
          <p:nvPr/>
        </p:nvSpPr>
        <p:spPr>
          <a:xfrm>
            <a:off x="9537192" y="3063240"/>
            <a:ext cx="1883664" cy="2926080"/>
          </a:xfrm>
          <a:prstGeom prst="rect">
            <a:avLst/>
          </a:prstGeom>
          <a:noFill/>
          <a:ln/>
        </p:spPr>
        <p:txBody>
          <a:bodyPr wrap="square" lIns="0" tIns="0" rIns="0" bIns="0" rtlCol="0" anchor="t"/>
          <a:lstStyle/>
          <a:p>
            <a:pPr marL="0" indent="0" algn="ctr">
              <a:buNone/>
            </a:pPr>
            <a:r>
              <a:rPr lang="en-US" sz="1050" dirty="0">
                <a:solidFill>
                  <a:srgbClr val="1B2635"/>
                </a:solidFill>
                <a:latin typeface="Calibri" pitchFamily="34" charset="0"/>
                <a:ea typeface="Calibri" pitchFamily="34" charset="-122"/>
                <a:cs typeface="Calibri" pitchFamily="34" charset="-120"/>
              </a:rPr>
              <a:t>Cloud provider API and control-plane activity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LOG ANALYSIS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Log Collection and Aggregation</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sync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40</a:t>
            </a:r>
            <a:endParaRPr lang="en-US" sz="900" dirty="0"/>
          </a:p>
        </p:txBody>
      </p:sp>
      <p:sp>
        <p:nvSpPr>
          <p:cNvPr id="9" name="Shape 6"/>
          <p:cNvSpPr/>
          <p:nvPr/>
        </p:nvSpPr>
        <p:spPr>
          <a:xfrm>
            <a:off x="548640" y="1920240"/>
            <a:ext cx="2628900" cy="1737360"/>
          </a:xfrm>
          <a:prstGeom prst="roundRect">
            <a:avLst>
              <a:gd name="adj" fmla="val 4211"/>
            </a:avLst>
          </a:prstGeom>
          <a:solidFill>
            <a:srgbClr val="FFFFFF"/>
          </a:solidFill>
          <a:ln/>
          <a:effectLst>
            <a:outerShdw blurRad="101600" dist="25400" dir="5400000" algn="bl" rotWithShape="0">
              <a:srgbClr val="1B2635">
                <a:alpha val="10000"/>
              </a:srgbClr>
            </a:outerShdw>
          </a:effectLst>
        </p:spPr>
      </p:sp>
      <p:sp>
        <p:nvSpPr>
          <p:cNvPr id="10" name="Shape 7"/>
          <p:cNvSpPr/>
          <p:nvPr/>
        </p:nvSpPr>
        <p:spPr>
          <a:xfrm>
            <a:off x="1543050" y="2103120"/>
            <a:ext cx="640080" cy="640080"/>
          </a:xfrm>
          <a:prstGeom prst="ellipse">
            <a:avLst/>
          </a:prstGeom>
          <a:solidFill>
            <a:srgbClr val="EAF6FB"/>
          </a:solidFill>
          <a:ln/>
        </p:spPr>
      </p:sp>
      <p:pic>
        <p:nvPicPr>
          <p:cNvPr id="11" name="Image 1" descr="/home/claude/devsecops5/icons/server_navy.png"/>
          <p:cNvPicPr>
            <a:picLocks noChangeAspect="1"/>
          </p:cNvPicPr>
          <p:nvPr/>
        </p:nvPicPr>
        <p:blipFill>
          <a:blip r:embed="rId4"/>
          <a:stretch>
            <a:fillRect/>
          </a:stretch>
        </p:blipFill>
        <p:spPr>
          <a:xfrm>
            <a:off x="1626260" y="2186330"/>
            <a:ext cx="473659" cy="473659"/>
          </a:xfrm>
          <a:prstGeom prst="rect">
            <a:avLst/>
          </a:prstGeom>
        </p:spPr>
      </p:pic>
      <p:sp>
        <p:nvSpPr>
          <p:cNvPr id="12" name="Text 8"/>
          <p:cNvSpPr/>
          <p:nvPr/>
        </p:nvSpPr>
        <p:spPr>
          <a:xfrm>
            <a:off x="594360" y="2834640"/>
            <a:ext cx="2537460" cy="73152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Log Sources</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(Apps, Hosts,</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Containers)</a:t>
            </a:r>
            <a:endParaRPr lang="en-US" sz="1050" dirty="0"/>
          </a:p>
        </p:txBody>
      </p:sp>
      <p:sp>
        <p:nvSpPr>
          <p:cNvPr id="13" name="Shape 9"/>
          <p:cNvSpPr/>
          <p:nvPr/>
        </p:nvSpPr>
        <p:spPr>
          <a:xfrm>
            <a:off x="3177540" y="2615184"/>
            <a:ext cx="201168" cy="164592"/>
          </a:xfrm>
          <a:prstGeom prst="rightArrow">
            <a:avLst/>
          </a:prstGeom>
          <a:solidFill>
            <a:srgbClr val="22D3EE"/>
          </a:solidFill>
          <a:ln/>
        </p:spPr>
      </p:sp>
      <p:sp>
        <p:nvSpPr>
          <p:cNvPr id="14" name="Shape 10"/>
          <p:cNvSpPr/>
          <p:nvPr/>
        </p:nvSpPr>
        <p:spPr>
          <a:xfrm>
            <a:off x="3360420" y="1920240"/>
            <a:ext cx="2628900" cy="1737360"/>
          </a:xfrm>
          <a:prstGeom prst="roundRect">
            <a:avLst>
              <a:gd name="adj" fmla="val 4211"/>
            </a:avLst>
          </a:prstGeom>
          <a:solidFill>
            <a:srgbClr val="FFFFFF"/>
          </a:solidFill>
          <a:ln/>
          <a:effectLst>
            <a:outerShdw blurRad="101600" dist="25400" dir="5400000" algn="bl" rotWithShape="0">
              <a:srgbClr val="1B2635">
                <a:alpha val="10000"/>
              </a:srgbClr>
            </a:outerShdw>
          </a:effectLst>
        </p:spPr>
      </p:sp>
      <p:sp>
        <p:nvSpPr>
          <p:cNvPr id="15" name="Shape 11"/>
          <p:cNvSpPr/>
          <p:nvPr/>
        </p:nvSpPr>
        <p:spPr>
          <a:xfrm>
            <a:off x="4354830" y="2103120"/>
            <a:ext cx="640080" cy="640080"/>
          </a:xfrm>
          <a:prstGeom prst="ellipse">
            <a:avLst/>
          </a:prstGeom>
          <a:solidFill>
            <a:srgbClr val="EAF6FB"/>
          </a:solidFill>
          <a:ln/>
        </p:spPr>
      </p:sp>
      <p:pic>
        <p:nvPicPr>
          <p:cNvPr id="16" name="Image 2" descr="/home/claude/devsecops5/icons/database_navy.png"/>
          <p:cNvPicPr>
            <a:picLocks noChangeAspect="1"/>
          </p:cNvPicPr>
          <p:nvPr/>
        </p:nvPicPr>
        <p:blipFill>
          <a:blip r:embed="rId5"/>
          <a:stretch>
            <a:fillRect/>
          </a:stretch>
        </p:blipFill>
        <p:spPr>
          <a:xfrm>
            <a:off x="4438040" y="2186330"/>
            <a:ext cx="473659" cy="473659"/>
          </a:xfrm>
          <a:prstGeom prst="rect">
            <a:avLst/>
          </a:prstGeom>
        </p:spPr>
      </p:pic>
      <p:sp>
        <p:nvSpPr>
          <p:cNvPr id="17" name="Text 12"/>
          <p:cNvSpPr/>
          <p:nvPr/>
        </p:nvSpPr>
        <p:spPr>
          <a:xfrm>
            <a:off x="3406140" y="2834640"/>
            <a:ext cx="2537460" cy="73152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Collection Agents</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(Filebeat, Fluentd)</a:t>
            </a:r>
            <a:endParaRPr lang="en-US" sz="1050" dirty="0"/>
          </a:p>
        </p:txBody>
      </p:sp>
      <p:sp>
        <p:nvSpPr>
          <p:cNvPr id="18" name="Shape 13"/>
          <p:cNvSpPr/>
          <p:nvPr/>
        </p:nvSpPr>
        <p:spPr>
          <a:xfrm>
            <a:off x="5989320" y="2615184"/>
            <a:ext cx="201168" cy="164592"/>
          </a:xfrm>
          <a:prstGeom prst="rightArrow">
            <a:avLst/>
          </a:prstGeom>
          <a:solidFill>
            <a:srgbClr val="22D3EE"/>
          </a:solidFill>
          <a:ln/>
        </p:spPr>
      </p:sp>
      <p:sp>
        <p:nvSpPr>
          <p:cNvPr id="19" name="Shape 14"/>
          <p:cNvSpPr/>
          <p:nvPr/>
        </p:nvSpPr>
        <p:spPr>
          <a:xfrm>
            <a:off x="6172200" y="1920240"/>
            <a:ext cx="2628900" cy="1737360"/>
          </a:xfrm>
          <a:prstGeom prst="roundRect">
            <a:avLst>
              <a:gd name="adj" fmla="val 4211"/>
            </a:avLst>
          </a:prstGeom>
          <a:solidFill>
            <a:srgbClr val="FFFFFF"/>
          </a:solidFill>
          <a:ln/>
          <a:effectLst>
            <a:outerShdw blurRad="101600" dist="25400" dir="5400000" algn="bl" rotWithShape="0">
              <a:srgbClr val="1B2635">
                <a:alpha val="10000"/>
              </a:srgbClr>
            </a:outerShdw>
          </a:effectLst>
        </p:spPr>
      </p:sp>
      <p:sp>
        <p:nvSpPr>
          <p:cNvPr id="20" name="Shape 15"/>
          <p:cNvSpPr/>
          <p:nvPr/>
        </p:nvSpPr>
        <p:spPr>
          <a:xfrm>
            <a:off x="7166610" y="2103120"/>
            <a:ext cx="640080" cy="640080"/>
          </a:xfrm>
          <a:prstGeom prst="ellipse">
            <a:avLst/>
          </a:prstGeom>
          <a:solidFill>
            <a:srgbClr val="EAF6FB"/>
          </a:solidFill>
          <a:ln/>
        </p:spPr>
      </p:sp>
      <p:pic>
        <p:nvPicPr>
          <p:cNvPr id="21" name="Image 3" descr="/home/claude/devsecops5/icons/layers_navy.png"/>
          <p:cNvPicPr>
            <a:picLocks noChangeAspect="1"/>
          </p:cNvPicPr>
          <p:nvPr/>
        </p:nvPicPr>
        <p:blipFill>
          <a:blip r:embed="rId6"/>
          <a:stretch>
            <a:fillRect/>
          </a:stretch>
        </p:blipFill>
        <p:spPr>
          <a:xfrm>
            <a:off x="7249820" y="2186330"/>
            <a:ext cx="473659" cy="473659"/>
          </a:xfrm>
          <a:prstGeom prst="rect">
            <a:avLst/>
          </a:prstGeom>
        </p:spPr>
      </p:pic>
      <p:sp>
        <p:nvSpPr>
          <p:cNvPr id="22" name="Text 16"/>
          <p:cNvSpPr/>
          <p:nvPr/>
        </p:nvSpPr>
        <p:spPr>
          <a:xfrm>
            <a:off x="6217920" y="2834640"/>
            <a:ext cx="2537460" cy="73152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Aggregation /</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Buffering (Logstash,</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Kafka)</a:t>
            </a:r>
            <a:endParaRPr lang="en-US" sz="1050" dirty="0"/>
          </a:p>
        </p:txBody>
      </p:sp>
      <p:sp>
        <p:nvSpPr>
          <p:cNvPr id="23" name="Shape 17"/>
          <p:cNvSpPr/>
          <p:nvPr/>
        </p:nvSpPr>
        <p:spPr>
          <a:xfrm>
            <a:off x="8801100" y="2615184"/>
            <a:ext cx="201168" cy="164592"/>
          </a:xfrm>
          <a:prstGeom prst="rightArrow">
            <a:avLst/>
          </a:prstGeom>
          <a:solidFill>
            <a:srgbClr val="22D3EE"/>
          </a:solidFill>
          <a:ln/>
        </p:spPr>
      </p:sp>
      <p:sp>
        <p:nvSpPr>
          <p:cNvPr id="24" name="Shape 18"/>
          <p:cNvSpPr/>
          <p:nvPr/>
        </p:nvSpPr>
        <p:spPr>
          <a:xfrm>
            <a:off x="8983980" y="1920240"/>
            <a:ext cx="2628900" cy="1737360"/>
          </a:xfrm>
          <a:prstGeom prst="roundRect">
            <a:avLst>
              <a:gd name="adj" fmla="val 4211"/>
            </a:avLst>
          </a:prstGeom>
          <a:solidFill>
            <a:srgbClr val="FFFFFF"/>
          </a:solidFill>
          <a:ln/>
          <a:effectLst>
            <a:outerShdw blurRad="101600" dist="25400" dir="5400000" algn="bl" rotWithShape="0">
              <a:srgbClr val="1B2635">
                <a:alpha val="10000"/>
              </a:srgbClr>
            </a:outerShdw>
          </a:effectLst>
        </p:spPr>
      </p:sp>
      <p:sp>
        <p:nvSpPr>
          <p:cNvPr id="25" name="Shape 19"/>
          <p:cNvSpPr/>
          <p:nvPr/>
        </p:nvSpPr>
        <p:spPr>
          <a:xfrm>
            <a:off x="9978390" y="2103120"/>
            <a:ext cx="640080" cy="640080"/>
          </a:xfrm>
          <a:prstGeom prst="ellipse">
            <a:avLst/>
          </a:prstGeom>
          <a:solidFill>
            <a:srgbClr val="EAF6FB"/>
          </a:solidFill>
          <a:ln/>
        </p:spPr>
      </p:sp>
      <p:pic>
        <p:nvPicPr>
          <p:cNvPr id="26" name="Image 4" descr="/home/claude/devsecops5/icons/file_navy.png"/>
          <p:cNvPicPr>
            <a:picLocks noChangeAspect="1"/>
          </p:cNvPicPr>
          <p:nvPr/>
        </p:nvPicPr>
        <p:blipFill>
          <a:blip r:embed="rId7"/>
          <a:stretch>
            <a:fillRect/>
          </a:stretch>
        </p:blipFill>
        <p:spPr>
          <a:xfrm>
            <a:off x="10061600" y="2186330"/>
            <a:ext cx="473659" cy="473659"/>
          </a:xfrm>
          <a:prstGeom prst="rect">
            <a:avLst/>
          </a:prstGeom>
        </p:spPr>
      </p:pic>
      <p:sp>
        <p:nvSpPr>
          <p:cNvPr id="27" name="Text 20"/>
          <p:cNvSpPr/>
          <p:nvPr/>
        </p:nvSpPr>
        <p:spPr>
          <a:xfrm>
            <a:off x="9029700" y="2834640"/>
            <a:ext cx="2537460" cy="73152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Storage &amp; Indexing</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(Elasticsearch, Loki,</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Splunk)</a:t>
            </a:r>
            <a:endParaRPr lang="en-US" sz="1050" dirty="0"/>
          </a:p>
        </p:txBody>
      </p:sp>
      <p:sp>
        <p:nvSpPr>
          <p:cNvPr id="28" name="Text 21"/>
          <p:cNvSpPr/>
          <p:nvPr/>
        </p:nvSpPr>
        <p:spPr>
          <a:xfrm>
            <a:off x="548640" y="4023360"/>
            <a:ext cx="11064240" cy="219456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1B2635"/>
                </a:solidFill>
                <a:latin typeface="Calibri" pitchFamily="34" charset="0"/>
                <a:ea typeface="Calibri" pitchFamily="34" charset="-122"/>
                <a:cs typeface="Calibri" pitchFamily="34" charset="-120"/>
              </a:rPr>
              <a:t>Collection agents tail log files or subscribe to streams and forward them onward automatically</a:t>
            </a:r>
            <a:endParaRPr lang="en-US" sz="1400" dirty="0"/>
          </a:p>
          <a:p>
            <a:pPr marL="228600" indent="-228600">
              <a:lnSpc>
                <a:spcPct val="115000"/>
              </a:lnSpc>
              <a:spcAft>
                <a:spcPts val="1200"/>
              </a:spcAft>
              <a:buSzPct val="100000"/>
              <a:buChar char="▪"/>
            </a:pPr>
            <a:r>
              <a:rPr lang="en-US" sz="1400" dirty="0">
                <a:solidFill>
                  <a:srgbClr val="1B2635"/>
                </a:solidFill>
                <a:latin typeface="Calibri" pitchFamily="34" charset="0"/>
                <a:ea typeface="Calibri" pitchFamily="34" charset="-122"/>
                <a:cs typeface="Calibri" pitchFamily="34" charset="-120"/>
              </a:rPr>
              <a:t>Aggregation centralizes logs from many distributed sources into a single searchable repository</a:t>
            </a:r>
            <a:endParaRPr lang="en-US" sz="1400" dirty="0"/>
          </a:p>
          <a:p>
            <a:pPr marL="228600" indent="-228600">
              <a:lnSpc>
                <a:spcPct val="115000"/>
              </a:lnSpc>
              <a:spcAft>
                <a:spcPts val="1200"/>
              </a:spcAft>
              <a:buSzPct val="100000"/>
              <a:buChar char="▪"/>
            </a:pPr>
            <a:r>
              <a:rPr lang="en-US" sz="1400" dirty="0">
                <a:solidFill>
                  <a:srgbClr val="1B2635"/>
                </a:solidFill>
                <a:latin typeface="Calibri" pitchFamily="34" charset="0"/>
                <a:ea typeface="Calibri" pitchFamily="34" charset="-122"/>
                <a:cs typeface="Calibri" pitchFamily="34" charset="-120"/>
              </a:rPr>
              <a:t>Essential given the scale of modern cloud-native environments - no analyst can log into every server individually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4">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LOG ANALYSIS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Log Analysis Process</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search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40</a:t>
            </a:r>
            <a:endParaRPr lang="en-US" sz="900" dirty="0"/>
          </a:p>
        </p:txBody>
      </p:sp>
      <p:sp>
        <p:nvSpPr>
          <p:cNvPr id="9" name="Shape 6"/>
          <p:cNvSpPr/>
          <p:nvPr/>
        </p:nvSpPr>
        <p:spPr>
          <a:xfrm>
            <a:off x="548640" y="1737360"/>
            <a:ext cx="173736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0" name="Text 7"/>
          <p:cNvSpPr/>
          <p:nvPr/>
        </p:nvSpPr>
        <p:spPr>
          <a:xfrm>
            <a:off x="548640" y="1810512"/>
            <a:ext cx="173736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1</a:t>
            </a:r>
            <a:endParaRPr lang="en-US" sz="1300" dirty="0"/>
          </a:p>
        </p:txBody>
      </p:sp>
      <p:sp>
        <p:nvSpPr>
          <p:cNvPr id="11" name="Text 8"/>
          <p:cNvSpPr/>
          <p:nvPr/>
        </p:nvSpPr>
        <p:spPr>
          <a:xfrm>
            <a:off x="585216" y="2103120"/>
            <a:ext cx="1664208" cy="77724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Collect &amp;</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Centralize</a:t>
            </a:r>
            <a:endParaRPr lang="en-US" sz="950" dirty="0"/>
          </a:p>
        </p:txBody>
      </p:sp>
      <p:sp>
        <p:nvSpPr>
          <p:cNvPr id="12" name="Shape 9"/>
          <p:cNvSpPr/>
          <p:nvPr/>
        </p:nvSpPr>
        <p:spPr>
          <a:xfrm>
            <a:off x="2286000" y="2249424"/>
            <a:ext cx="146304" cy="164592"/>
          </a:xfrm>
          <a:prstGeom prst="rightArrow">
            <a:avLst/>
          </a:prstGeom>
          <a:solidFill>
            <a:srgbClr val="22D3EE"/>
          </a:solidFill>
          <a:ln/>
        </p:spPr>
      </p:sp>
      <p:sp>
        <p:nvSpPr>
          <p:cNvPr id="13" name="Shape 10"/>
          <p:cNvSpPr/>
          <p:nvPr/>
        </p:nvSpPr>
        <p:spPr>
          <a:xfrm>
            <a:off x="2414016" y="1737360"/>
            <a:ext cx="173736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4" name="Text 11"/>
          <p:cNvSpPr/>
          <p:nvPr/>
        </p:nvSpPr>
        <p:spPr>
          <a:xfrm>
            <a:off x="2414016" y="1810512"/>
            <a:ext cx="173736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2450592" y="2103120"/>
            <a:ext cx="1664208" cy="77724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Parse Raw</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Text</a:t>
            </a:r>
            <a:endParaRPr lang="en-US" sz="950" dirty="0"/>
          </a:p>
        </p:txBody>
      </p:sp>
      <p:sp>
        <p:nvSpPr>
          <p:cNvPr id="16" name="Shape 13"/>
          <p:cNvSpPr/>
          <p:nvPr/>
        </p:nvSpPr>
        <p:spPr>
          <a:xfrm>
            <a:off x="4151376" y="2249424"/>
            <a:ext cx="146304" cy="164592"/>
          </a:xfrm>
          <a:prstGeom prst="rightArrow">
            <a:avLst/>
          </a:prstGeom>
          <a:solidFill>
            <a:srgbClr val="22D3EE"/>
          </a:solidFill>
          <a:ln/>
        </p:spPr>
      </p:sp>
      <p:sp>
        <p:nvSpPr>
          <p:cNvPr id="17" name="Shape 14"/>
          <p:cNvSpPr/>
          <p:nvPr/>
        </p:nvSpPr>
        <p:spPr>
          <a:xfrm>
            <a:off x="4279392" y="1737360"/>
            <a:ext cx="173736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8" name="Text 15"/>
          <p:cNvSpPr/>
          <p:nvPr/>
        </p:nvSpPr>
        <p:spPr>
          <a:xfrm>
            <a:off x="4279392" y="1810512"/>
            <a:ext cx="173736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4315968" y="2103120"/>
            <a:ext cx="1664208" cy="77724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Normalize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Fields</a:t>
            </a:r>
            <a:endParaRPr lang="en-US" sz="950" dirty="0"/>
          </a:p>
        </p:txBody>
      </p:sp>
      <p:sp>
        <p:nvSpPr>
          <p:cNvPr id="20" name="Shape 17"/>
          <p:cNvSpPr/>
          <p:nvPr/>
        </p:nvSpPr>
        <p:spPr>
          <a:xfrm>
            <a:off x="6016752" y="2249424"/>
            <a:ext cx="146304" cy="164592"/>
          </a:xfrm>
          <a:prstGeom prst="rightArrow">
            <a:avLst/>
          </a:prstGeom>
          <a:solidFill>
            <a:srgbClr val="22D3EE"/>
          </a:solidFill>
          <a:ln/>
        </p:spPr>
      </p:sp>
      <p:sp>
        <p:nvSpPr>
          <p:cNvPr id="21" name="Shape 18"/>
          <p:cNvSpPr/>
          <p:nvPr/>
        </p:nvSpPr>
        <p:spPr>
          <a:xfrm>
            <a:off x="6144768" y="1737360"/>
            <a:ext cx="173736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22" name="Text 19"/>
          <p:cNvSpPr/>
          <p:nvPr/>
        </p:nvSpPr>
        <p:spPr>
          <a:xfrm>
            <a:off x="6144768" y="1810512"/>
            <a:ext cx="173736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6181344" y="2103120"/>
            <a:ext cx="1664208" cy="77724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Apply</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Correlation Rules</a:t>
            </a:r>
            <a:endParaRPr lang="en-US" sz="950" dirty="0"/>
          </a:p>
        </p:txBody>
      </p:sp>
      <p:sp>
        <p:nvSpPr>
          <p:cNvPr id="24" name="Shape 21"/>
          <p:cNvSpPr/>
          <p:nvPr/>
        </p:nvSpPr>
        <p:spPr>
          <a:xfrm>
            <a:off x="7882128" y="2249424"/>
            <a:ext cx="146304" cy="164592"/>
          </a:xfrm>
          <a:prstGeom prst="rightArrow">
            <a:avLst/>
          </a:prstGeom>
          <a:solidFill>
            <a:srgbClr val="22D3EE"/>
          </a:solidFill>
          <a:ln/>
        </p:spPr>
      </p:sp>
      <p:sp>
        <p:nvSpPr>
          <p:cNvPr id="25" name="Shape 22"/>
          <p:cNvSpPr/>
          <p:nvPr/>
        </p:nvSpPr>
        <p:spPr>
          <a:xfrm>
            <a:off x="8010144" y="1737360"/>
            <a:ext cx="173736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26" name="Text 23"/>
          <p:cNvSpPr/>
          <p:nvPr/>
        </p:nvSpPr>
        <p:spPr>
          <a:xfrm>
            <a:off x="8010144" y="1810512"/>
            <a:ext cx="173736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5</a:t>
            </a:r>
            <a:endParaRPr lang="en-US" sz="1300" dirty="0"/>
          </a:p>
        </p:txBody>
      </p:sp>
      <p:sp>
        <p:nvSpPr>
          <p:cNvPr id="27" name="Text 24"/>
          <p:cNvSpPr/>
          <p:nvPr/>
        </p:nvSpPr>
        <p:spPr>
          <a:xfrm>
            <a:off x="8046720" y="2103120"/>
            <a:ext cx="1664208" cy="77724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Flag Malicious/</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Anomalous Events</a:t>
            </a:r>
            <a:endParaRPr lang="en-US" sz="950" dirty="0"/>
          </a:p>
        </p:txBody>
      </p:sp>
      <p:sp>
        <p:nvSpPr>
          <p:cNvPr id="28" name="Shape 25"/>
          <p:cNvSpPr/>
          <p:nvPr/>
        </p:nvSpPr>
        <p:spPr>
          <a:xfrm>
            <a:off x="9747504" y="2249424"/>
            <a:ext cx="146304" cy="164592"/>
          </a:xfrm>
          <a:prstGeom prst="rightArrow">
            <a:avLst/>
          </a:prstGeom>
          <a:solidFill>
            <a:srgbClr val="22D3EE"/>
          </a:solidFill>
          <a:ln/>
        </p:spPr>
      </p:sp>
      <p:sp>
        <p:nvSpPr>
          <p:cNvPr id="29" name="Shape 26"/>
          <p:cNvSpPr/>
          <p:nvPr/>
        </p:nvSpPr>
        <p:spPr>
          <a:xfrm>
            <a:off x="9875520" y="1737360"/>
            <a:ext cx="1737360" cy="1188720"/>
          </a:xfrm>
          <a:prstGeom prst="roundRect">
            <a:avLst>
              <a:gd name="adj" fmla="val 6154"/>
            </a:avLst>
          </a:prstGeom>
          <a:solidFill>
            <a:srgbClr val="0F6FB3"/>
          </a:solidFill>
          <a:ln/>
          <a:effectLst>
            <a:outerShdw blurRad="101600" dist="25400" dir="5400000" algn="bl" rotWithShape="0">
              <a:srgbClr val="1B2635">
                <a:alpha val="10000"/>
              </a:srgbClr>
            </a:outerShdw>
          </a:effectLst>
        </p:spPr>
      </p:sp>
      <p:sp>
        <p:nvSpPr>
          <p:cNvPr id="30" name="Text 27"/>
          <p:cNvSpPr/>
          <p:nvPr/>
        </p:nvSpPr>
        <p:spPr>
          <a:xfrm>
            <a:off x="9875520" y="1810512"/>
            <a:ext cx="1737360" cy="274320"/>
          </a:xfrm>
          <a:prstGeom prst="rect">
            <a:avLst/>
          </a:prstGeom>
          <a:noFill/>
          <a:ln/>
        </p:spPr>
        <p:txBody>
          <a:bodyPr wrap="square" lIns="0" tIns="0" rIns="0" bIns="0" rtlCol="0" anchor="ctr"/>
          <a:lstStyle/>
          <a:p>
            <a:pPr marL="0" indent="0" algn="ctr">
              <a:buNone/>
            </a:pPr>
            <a:r>
              <a:rPr lang="en-US" sz="1300" b="1" dirty="0">
                <a:solidFill>
                  <a:srgbClr val="22D3EE"/>
                </a:solidFill>
                <a:latin typeface="Calibri" pitchFamily="34" charset="0"/>
                <a:ea typeface="Calibri" pitchFamily="34" charset="-122"/>
                <a:cs typeface="Calibri" pitchFamily="34" charset="-120"/>
              </a:rPr>
              <a:t>6</a:t>
            </a:r>
            <a:endParaRPr lang="en-US" sz="1300" dirty="0"/>
          </a:p>
        </p:txBody>
      </p:sp>
      <p:sp>
        <p:nvSpPr>
          <p:cNvPr id="31" name="Text 28"/>
          <p:cNvSpPr/>
          <p:nvPr/>
        </p:nvSpPr>
        <p:spPr>
          <a:xfrm>
            <a:off x="9912096" y="2103120"/>
            <a:ext cx="1664208" cy="777240"/>
          </a:xfrm>
          <a:prstGeom prst="rect">
            <a:avLst/>
          </a:prstGeom>
          <a:noFill/>
          <a:ln/>
        </p:spPr>
        <p:txBody>
          <a:bodyPr wrap="square" lIns="0" tIns="0" rIns="0" bIns="0"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Alert or</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Dashboard</a:t>
            </a:r>
            <a:endParaRPr lang="en-US" sz="950" dirty="0"/>
          </a:p>
        </p:txBody>
      </p:sp>
      <p:sp>
        <p:nvSpPr>
          <p:cNvPr id="32" name="Text 29"/>
          <p:cNvSpPr/>
          <p:nvPr/>
        </p:nvSpPr>
        <p:spPr>
          <a:xfrm>
            <a:off x="548640" y="3474720"/>
            <a:ext cx="11064240" cy="2651760"/>
          </a:xfrm>
          <a:prstGeom prst="rect">
            <a:avLst/>
          </a:prstGeom>
          <a:noFill/>
          <a:ln/>
        </p:spPr>
        <p:txBody>
          <a:bodyPr wrap="square" rtlCol="0" anchor="t"/>
          <a:lstStyle/>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Normalization ensures 'src_ip', 'source_ip', and 'client_address' from different tools all map to one field</a:t>
            </a:r>
            <a:endParaRPr lang="en-US" sz="1350" dirty="0"/>
          </a:p>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Correlation links related events across multiple log streams - e.g., a failed login followed by a suspicious successful login</a:t>
            </a:r>
            <a:endParaRPr lang="en-US" sz="1350" dirty="0"/>
          </a:p>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Structured, normalized logs are the prerequisite that makes reliable correlation possible at all</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5">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LOG ANALYSIS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Alerting Mechanisms</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warning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40</a:t>
            </a:r>
            <a:endParaRPr lang="en-US" sz="900" dirty="0"/>
          </a:p>
        </p:txBody>
      </p:sp>
      <p:sp>
        <p:nvSpPr>
          <p:cNvPr id="9" name="Shape 6"/>
          <p:cNvSpPr/>
          <p:nvPr/>
        </p:nvSpPr>
        <p:spPr>
          <a:xfrm>
            <a:off x="548640" y="1737360"/>
            <a:ext cx="210312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0" name="Text 7"/>
          <p:cNvSpPr/>
          <p:nvPr/>
        </p:nvSpPr>
        <p:spPr>
          <a:xfrm>
            <a:off x="585216" y="1737360"/>
            <a:ext cx="2029968"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Matched</a:t>
            </a:r>
            <a:endParaRPr lang="en-US" sz="1100" dirty="0"/>
          </a:p>
        </p:txBody>
      </p:sp>
      <p:sp>
        <p:nvSpPr>
          <p:cNvPr id="11" name="Shape 8"/>
          <p:cNvSpPr/>
          <p:nvPr/>
        </p:nvSpPr>
        <p:spPr>
          <a:xfrm>
            <a:off x="2651760" y="2249424"/>
            <a:ext cx="155448" cy="164592"/>
          </a:xfrm>
          <a:prstGeom prst="rightArrow">
            <a:avLst/>
          </a:prstGeom>
          <a:solidFill>
            <a:srgbClr val="22D3EE"/>
          </a:solidFill>
          <a:ln/>
        </p:spPr>
      </p:sp>
      <p:sp>
        <p:nvSpPr>
          <p:cNvPr id="12" name="Shape 9"/>
          <p:cNvSpPr/>
          <p:nvPr/>
        </p:nvSpPr>
        <p:spPr>
          <a:xfrm>
            <a:off x="2788920" y="1737360"/>
            <a:ext cx="210312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3" name="Text 10"/>
          <p:cNvSpPr/>
          <p:nvPr/>
        </p:nvSpPr>
        <p:spPr>
          <a:xfrm>
            <a:off x="2825496" y="1737360"/>
            <a:ext cx="2029968"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Alert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Generated</a:t>
            </a:r>
            <a:endParaRPr lang="en-US" sz="1100" dirty="0"/>
          </a:p>
        </p:txBody>
      </p:sp>
      <p:sp>
        <p:nvSpPr>
          <p:cNvPr id="14" name="Shape 11"/>
          <p:cNvSpPr/>
          <p:nvPr/>
        </p:nvSpPr>
        <p:spPr>
          <a:xfrm>
            <a:off x="4892040" y="2249424"/>
            <a:ext cx="155448" cy="164592"/>
          </a:xfrm>
          <a:prstGeom prst="rightArrow">
            <a:avLst/>
          </a:prstGeom>
          <a:solidFill>
            <a:srgbClr val="22D3EE"/>
          </a:solidFill>
          <a:ln/>
        </p:spPr>
      </p:sp>
      <p:sp>
        <p:nvSpPr>
          <p:cNvPr id="15" name="Shape 12"/>
          <p:cNvSpPr/>
          <p:nvPr/>
        </p:nvSpPr>
        <p:spPr>
          <a:xfrm>
            <a:off x="5029200" y="1737360"/>
            <a:ext cx="210312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6" name="Text 13"/>
          <p:cNvSpPr/>
          <p:nvPr/>
        </p:nvSpPr>
        <p:spPr>
          <a:xfrm>
            <a:off x="5065776" y="1737360"/>
            <a:ext cx="2029968"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Prioritized by</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p>
        </p:txBody>
      </p:sp>
      <p:sp>
        <p:nvSpPr>
          <p:cNvPr id="17" name="Shape 14"/>
          <p:cNvSpPr/>
          <p:nvPr/>
        </p:nvSpPr>
        <p:spPr>
          <a:xfrm>
            <a:off x="7132320" y="2249424"/>
            <a:ext cx="155448" cy="164592"/>
          </a:xfrm>
          <a:prstGeom prst="rightArrow">
            <a:avLst/>
          </a:prstGeom>
          <a:solidFill>
            <a:srgbClr val="22D3EE"/>
          </a:solidFill>
          <a:ln/>
        </p:spPr>
      </p:sp>
      <p:sp>
        <p:nvSpPr>
          <p:cNvPr id="18" name="Shape 15"/>
          <p:cNvSpPr/>
          <p:nvPr/>
        </p:nvSpPr>
        <p:spPr>
          <a:xfrm>
            <a:off x="7269480" y="1737360"/>
            <a:ext cx="2103120" cy="1188720"/>
          </a:xfrm>
          <a:prstGeom prst="roundRect">
            <a:avLst>
              <a:gd name="adj" fmla="val 6154"/>
            </a:avLst>
          </a:prstGeom>
          <a:solidFill>
            <a:srgbClr val="0B1F3A"/>
          </a:solidFill>
          <a:ln/>
          <a:effectLst>
            <a:outerShdw blurRad="101600" dist="25400" dir="5400000" algn="bl" rotWithShape="0">
              <a:srgbClr val="1B2635">
                <a:alpha val="10000"/>
              </a:srgbClr>
            </a:outerShdw>
          </a:effectLst>
        </p:spPr>
      </p:sp>
      <p:sp>
        <p:nvSpPr>
          <p:cNvPr id="19" name="Text 16"/>
          <p:cNvSpPr/>
          <p:nvPr/>
        </p:nvSpPr>
        <p:spPr>
          <a:xfrm>
            <a:off x="7306056" y="1737360"/>
            <a:ext cx="2029968"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Routed to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Responder</a:t>
            </a:r>
            <a:endParaRPr lang="en-US" sz="1100" dirty="0"/>
          </a:p>
        </p:txBody>
      </p:sp>
      <p:sp>
        <p:nvSpPr>
          <p:cNvPr id="20" name="Shape 17"/>
          <p:cNvSpPr/>
          <p:nvPr/>
        </p:nvSpPr>
        <p:spPr>
          <a:xfrm>
            <a:off x="9372600" y="2249424"/>
            <a:ext cx="155448" cy="164592"/>
          </a:xfrm>
          <a:prstGeom prst="rightArrow">
            <a:avLst/>
          </a:prstGeom>
          <a:solidFill>
            <a:srgbClr val="22D3EE"/>
          </a:solidFill>
          <a:ln/>
        </p:spPr>
      </p:sp>
      <p:sp>
        <p:nvSpPr>
          <p:cNvPr id="21" name="Shape 18"/>
          <p:cNvSpPr/>
          <p:nvPr/>
        </p:nvSpPr>
        <p:spPr>
          <a:xfrm>
            <a:off x="9509760" y="1737360"/>
            <a:ext cx="2103120" cy="1188720"/>
          </a:xfrm>
          <a:prstGeom prst="roundRect">
            <a:avLst>
              <a:gd name="adj" fmla="val 6154"/>
            </a:avLst>
          </a:prstGeom>
          <a:solidFill>
            <a:srgbClr val="0F6FB3"/>
          </a:solidFill>
          <a:ln/>
          <a:effectLst>
            <a:outerShdw blurRad="101600" dist="25400" dir="5400000" algn="bl" rotWithShape="0">
              <a:srgbClr val="1B2635">
                <a:alpha val="10000"/>
              </a:srgbClr>
            </a:outerShdw>
          </a:effectLst>
        </p:spPr>
      </p:sp>
      <p:sp>
        <p:nvSpPr>
          <p:cNvPr id="22" name="Text 19"/>
          <p:cNvSpPr/>
          <p:nvPr/>
        </p:nvSpPr>
        <p:spPr>
          <a:xfrm>
            <a:off x="9546336" y="1737360"/>
            <a:ext cx="2029968" cy="11887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Investigated &amp;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Resolved</a:t>
            </a:r>
            <a:endParaRPr lang="en-US" sz="1100" dirty="0"/>
          </a:p>
        </p:txBody>
      </p:sp>
      <p:sp>
        <p:nvSpPr>
          <p:cNvPr id="23" name="Text 20"/>
          <p:cNvSpPr/>
          <p:nvPr/>
        </p:nvSpPr>
        <p:spPr>
          <a:xfrm>
            <a:off x="548640" y="3474720"/>
            <a:ext cx="11064240" cy="2651760"/>
          </a:xfrm>
          <a:prstGeom prst="rect">
            <a:avLst/>
          </a:prstGeom>
          <a:noFill/>
          <a:ln/>
        </p:spPr>
        <p:txBody>
          <a:bodyPr wrap="square" rtlCol="0" anchor="t"/>
          <a:lstStyle/>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Alert generation: automated notification when a defined rule/threshold is matched</a:t>
            </a:r>
            <a:endParaRPr lang="en-US" sz="1350" dirty="0"/>
          </a:p>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Alert prioritization ranks by severity and confidence so critical alerts reach an analyst first</a:t>
            </a:r>
            <a:endParaRPr lang="en-US" sz="1350" dirty="0"/>
          </a:p>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Alert fatigue: analysts desensitized by high volumes of low-value alerts risk missing genuine critical ones</a:t>
            </a:r>
            <a:endParaRPr lang="en-US" sz="1350" dirty="0"/>
          </a:p>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Alert routing (detailed on Slide 27) directs each alert to the right channel and responder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bg>
      <p:bgPr>
        <a:solidFill>
          <a:srgbClr val="F6F9FC"/>
        </a:solidFill>
        <a:effectLst/>
      </p:bgPr>
    </p:bg>
    <p:spTree>
      <p:nvGrpSpPr>
        <p:cNvPr id="1" name=""/>
        <p:cNvGrpSpPr/>
        <p:nvPr/>
      </p:nvGrpSpPr>
      <p:grpSpPr>
        <a:xfrm>
          <a:off x="0" y="0"/>
          <a:ext cx="0" cy="0"/>
          <a:chOff x="0" y="0"/>
          <a:chExt cx="0" cy="0"/>
        </a:xfrm>
      </p:grpSpPr>
      <p:sp>
        <p:nvSpPr>
          <p:cNvPr id="2" name="Text 0"/>
          <p:cNvSpPr/>
          <p:nvPr/>
        </p:nvSpPr>
        <p:spPr>
          <a:xfrm>
            <a:off x="548640" y="320040"/>
            <a:ext cx="9601200" cy="27432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LOG ANALYSIS</a:t>
            </a:r>
            <a:endParaRPr lang="en-US" sz="1200" dirty="0"/>
          </a:p>
        </p:txBody>
      </p:sp>
      <p:sp>
        <p:nvSpPr>
          <p:cNvPr id="3" name="Text 1"/>
          <p:cNvSpPr/>
          <p:nvPr/>
        </p:nvSpPr>
        <p:spPr>
          <a:xfrm>
            <a:off x="548640" y="566928"/>
            <a:ext cx="9692640" cy="685800"/>
          </a:xfrm>
          <a:prstGeom prst="rect">
            <a:avLst/>
          </a:prstGeom>
          <a:noFill/>
          <a:ln/>
        </p:spPr>
        <p:txBody>
          <a:bodyPr wrap="square" lIns="0" tIns="0" rIns="0" bIns="0" rtlCol="0" anchor="t"/>
          <a:lstStyle/>
          <a:p>
            <a:pPr marL="0" indent="0">
              <a:buNone/>
            </a:pPr>
            <a:r>
              <a:rPr lang="en-US" sz="3000" b="1" dirty="0">
                <a:solidFill>
                  <a:srgbClr val="0B1F3A"/>
                </a:solidFill>
                <a:latin typeface="Cambria" pitchFamily="34" charset="0"/>
                <a:ea typeface="Cambria" pitchFamily="34" charset="-122"/>
                <a:cs typeface="Cambria" pitchFamily="34" charset="-120"/>
              </a:rPr>
              <a:t>SIEM Architecture</a:t>
            </a:r>
            <a:endParaRPr lang="en-US" sz="3000" dirty="0"/>
          </a:p>
        </p:txBody>
      </p:sp>
      <p:sp>
        <p:nvSpPr>
          <p:cNvPr id="4" name="Shape 2"/>
          <p:cNvSpPr/>
          <p:nvPr/>
        </p:nvSpPr>
        <p:spPr>
          <a:xfrm>
            <a:off x="10881360" y="384048"/>
            <a:ext cx="868680" cy="868680"/>
          </a:xfrm>
          <a:prstGeom prst="ellipse">
            <a:avLst/>
          </a:prstGeom>
          <a:solidFill>
            <a:srgbClr val="EAF6FB"/>
          </a:solidFill>
          <a:ln/>
        </p:spPr>
      </p:sp>
      <p:pic>
        <p:nvPicPr>
          <p:cNvPr id="5" name="Image 0" descr="/home/claude/devsecops5/icons/search_navy.png"/>
          <p:cNvPicPr>
            <a:picLocks noChangeAspect="1"/>
          </p:cNvPicPr>
          <p:nvPr/>
        </p:nvPicPr>
        <p:blipFill>
          <a:blip r:embed="rId3"/>
          <a:stretch>
            <a:fillRect/>
          </a:stretch>
        </p:blipFill>
        <p:spPr>
          <a:xfrm>
            <a:off x="10994288" y="496976"/>
            <a:ext cx="642823" cy="642823"/>
          </a:xfrm>
          <a:prstGeom prst="rect">
            <a:avLst/>
          </a:prstGeom>
        </p:spPr>
      </p:pic>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CSA58  |  DevSecOps Engineering and Application Security</a:t>
            </a:r>
            <a:endParaRPr lang="en-US" sz="900" dirty="0"/>
          </a:p>
        </p:txBody>
      </p:sp>
      <p:sp>
        <p:nvSpPr>
          <p:cNvPr id="7" name="Text 4"/>
          <p:cNvSpPr/>
          <p:nvPr/>
        </p:nvSpPr>
        <p:spPr>
          <a:xfrm>
            <a:off x="7863840" y="6537960"/>
            <a:ext cx="27432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UNIT V</a:t>
            </a:r>
            <a:endParaRPr lang="en-US" sz="900" dirty="0"/>
          </a:p>
        </p:txBody>
      </p:sp>
      <p:sp>
        <p:nvSpPr>
          <p:cNvPr id="8" name="Text 5"/>
          <p:cNvSpPr/>
          <p:nvPr/>
        </p:nvSpPr>
        <p:spPr>
          <a:xfrm>
            <a:off x="10972800" y="6537960"/>
            <a:ext cx="73152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40</a:t>
            </a:r>
            <a:endParaRPr lang="en-US" sz="900" dirty="0"/>
          </a:p>
        </p:txBody>
      </p:sp>
      <p:sp>
        <p:nvSpPr>
          <p:cNvPr id="9" name="Shape 6"/>
          <p:cNvSpPr/>
          <p:nvPr/>
        </p:nvSpPr>
        <p:spPr>
          <a:xfrm>
            <a:off x="548640" y="1737360"/>
            <a:ext cx="2628900" cy="1554480"/>
          </a:xfrm>
          <a:prstGeom prst="roundRect">
            <a:avLst>
              <a:gd name="adj" fmla="val 4706"/>
            </a:avLst>
          </a:prstGeom>
          <a:solidFill>
            <a:srgbClr val="FFFFFF"/>
          </a:solidFill>
          <a:ln/>
          <a:effectLst>
            <a:outerShdw blurRad="101600" dist="25400" dir="5400000" algn="bl" rotWithShape="0">
              <a:srgbClr val="1B2635">
                <a:alpha val="10000"/>
              </a:srgbClr>
            </a:outerShdw>
          </a:effectLst>
        </p:spPr>
      </p:sp>
      <p:sp>
        <p:nvSpPr>
          <p:cNvPr id="10" name="Shape 7"/>
          <p:cNvSpPr/>
          <p:nvPr/>
        </p:nvSpPr>
        <p:spPr>
          <a:xfrm>
            <a:off x="1543050" y="1901952"/>
            <a:ext cx="594360" cy="594360"/>
          </a:xfrm>
          <a:prstGeom prst="ellipse">
            <a:avLst/>
          </a:prstGeom>
          <a:solidFill>
            <a:srgbClr val="EAF6FB"/>
          </a:solidFill>
          <a:ln/>
        </p:spPr>
      </p:sp>
      <p:pic>
        <p:nvPicPr>
          <p:cNvPr id="11" name="Image 1" descr="/home/claude/devsecops5/icons/server_navy.png"/>
          <p:cNvPicPr>
            <a:picLocks noChangeAspect="1"/>
          </p:cNvPicPr>
          <p:nvPr/>
        </p:nvPicPr>
        <p:blipFill>
          <a:blip r:embed="rId4"/>
          <a:stretch>
            <a:fillRect/>
          </a:stretch>
        </p:blipFill>
        <p:spPr>
          <a:xfrm>
            <a:off x="1620317" y="1979219"/>
            <a:ext cx="439826" cy="439826"/>
          </a:xfrm>
          <a:prstGeom prst="rect">
            <a:avLst/>
          </a:prstGeom>
        </p:spPr>
      </p:pic>
      <p:sp>
        <p:nvSpPr>
          <p:cNvPr id="12" name="Text 8"/>
          <p:cNvSpPr/>
          <p:nvPr/>
        </p:nvSpPr>
        <p:spPr>
          <a:xfrm>
            <a:off x="594360" y="2578608"/>
            <a:ext cx="2537460" cy="64008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Log Sources</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(All Domains)</a:t>
            </a:r>
            <a:endParaRPr lang="en-US" sz="1050" dirty="0"/>
          </a:p>
        </p:txBody>
      </p:sp>
      <p:sp>
        <p:nvSpPr>
          <p:cNvPr id="13" name="Shape 9"/>
          <p:cNvSpPr/>
          <p:nvPr/>
        </p:nvSpPr>
        <p:spPr>
          <a:xfrm>
            <a:off x="3177540" y="2386584"/>
            <a:ext cx="201168" cy="164592"/>
          </a:xfrm>
          <a:prstGeom prst="rightArrow">
            <a:avLst/>
          </a:prstGeom>
          <a:solidFill>
            <a:srgbClr val="22D3EE"/>
          </a:solidFill>
          <a:ln/>
        </p:spPr>
      </p:sp>
      <p:sp>
        <p:nvSpPr>
          <p:cNvPr id="14" name="Shape 10"/>
          <p:cNvSpPr/>
          <p:nvPr/>
        </p:nvSpPr>
        <p:spPr>
          <a:xfrm>
            <a:off x="3360420" y="1737360"/>
            <a:ext cx="2628900" cy="1554480"/>
          </a:xfrm>
          <a:prstGeom prst="roundRect">
            <a:avLst>
              <a:gd name="adj" fmla="val 4706"/>
            </a:avLst>
          </a:prstGeom>
          <a:solidFill>
            <a:srgbClr val="FFFFFF"/>
          </a:solidFill>
          <a:ln/>
          <a:effectLst>
            <a:outerShdw blurRad="101600" dist="25400" dir="5400000" algn="bl" rotWithShape="0">
              <a:srgbClr val="1B2635">
                <a:alpha val="10000"/>
              </a:srgbClr>
            </a:outerShdw>
          </a:effectLst>
        </p:spPr>
      </p:sp>
      <p:sp>
        <p:nvSpPr>
          <p:cNvPr id="15" name="Shape 11"/>
          <p:cNvSpPr/>
          <p:nvPr/>
        </p:nvSpPr>
        <p:spPr>
          <a:xfrm>
            <a:off x="4354830" y="1901952"/>
            <a:ext cx="594360" cy="594360"/>
          </a:xfrm>
          <a:prstGeom prst="ellipse">
            <a:avLst/>
          </a:prstGeom>
          <a:solidFill>
            <a:srgbClr val="EAF6FB"/>
          </a:solidFill>
          <a:ln/>
        </p:spPr>
      </p:sp>
      <p:pic>
        <p:nvPicPr>
          <p:cNvPr id="16" name="Image 2" descr="/home/claude/devsecops5/icons/layers_navy.png"/>
          <p:cNvPicPr>
            <a:picLocks noChangeAspect="1"/>
          </p:cNvPicPr>
          <p:nvPr/>
        </p:nvPicPr>
        <p:blipFill>
          <a:blip r:embed="rId5"/>
          <a:stretch>
            <a:fillRect/>
          </a:stretch>
        </p:blipFill>
        <p:spPr>
          <a:xfrm>
            <a:off x="4432097" y="1979219"/>
            <a:ext cx="439826" cy="439826"/>
          </a:xfrm>
          <a:prstGeom prst="rect">
            <a:avLst/>
          </a:prstGeom>
        </p:spPr>
      </p:pic>
      <p:sp>
        <p:nvSpPr>
          <p:cNvPr id="17" name="Text 12"/>
          <p:cNvSpPr/>
          <p:nvPr/>
        </p:nvSpPr>
        <p:spPr>
          <a:xfrm>
            <a:off x="3406140" y="2578608"/>
            <a:ext cx="2537460" cy="64008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Ingestion &amp;</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Normalization</a:t>
            </a:r>
            <a:endParaRPr lang="en-US" sz="1050" dirty="0"/>
          </a:p>
        </p:txBody>
      </p:sp>
      <p:sp>
        <p:nvSpPr>
          <p:cNvPr id="18" name="Shape 13"/>
          <p:cNvSpPr/>
          <p:nvPr/>
        </p:nvSpPr>
        <p:spPr>
          <a:xfrm>
            <a:off x="5989320" y="2386584"/>
            <a:ext cx="201168" cy="164592"/>
          </a:xfrm>
          <a:prstGeom prst="rightArrow">
            <a:avLst/>
          </a:prstGeom>
          <a:solidFill>
            <a:srgbClr val="22D3EE"/>
          </a:solidFill>
          <a:ln/>
        </p:spPr>
      </p:sp>
      <p:sp>
        <p:nvSpPr>
          <p:cNvPr id="19" name="Shape 14"/>
          <p:cNvSpPr/>
          <p:nvPr/>
        </p:nvSpPr>
        <p:spPr>
          <a:xfrm>
            <a:off x="6172200" y="1737360"/>
            <a:ext cx="2628900" cy="1554480"/>
          </a:xfrm>
          <a:prstGeom prst="roundRect">
            <a:avLst>
              <a:gd name="adj" fmla="val 4706"/>
            </a:avLst>
          </a:prstGeom>
          <a:solidFill>
            <a:srgbClr val="FFFFFF"/>
          </a:solidFill>
          <a:ln/>
          <a:effectLst>
            <a:outerShdw blurRad="101600" dist="25400" dir="5400000" algn="bl" rotWithShape="0">
              <a:srgbClr val="1B2635">
                <a:alpha val="10000"/>
              </a:srgbClr>
            </a:outerShdw>
          </a:effectLst>
        </p:spPr>
      </p:sp>
      <p:sp>
        <p:nvSpPr>
          <p:cNvPr id="20" name="Shape 15"/>
          <p:cNvSpPr/>
          <p:nvPr/>
        </p:nvSpPr>
        <p:spPr>
          <a:xfrm>
            <a:off x="7166610" y="1901952"/>
            <a:ext cx="594360" cy="594360"/>
          </a:xfrm>
          <a:prstGeom prst="ellipse">
            <a:avLst/>
          </a:prstGeom>
          <a:solidFill>
            <a:srgbClr val="EAF6FB"/>
          </a:solidFill>
          <a:ln/>
        </p:spPr>
      </p:sp>
      <p:pic>
        <p:nvPicPr>
          <p:cNvPr id="21" name="Image 3" descr="/home/claude/devsecops5/icons/search_navy.png"/>
          <p:cNvPicPr>
            <a:picLocks noChangeAspect="1"/>
          </p:cNvPicPr>
          <p:nvPr/>
        </p:nvPicPr>
        <p:blipFill>
          <a:blip r:embed="rId3"/>
          <a:stretch>
            <a:fillRect/>
          </a:stretch>
        </p:blipFill>
        <p:spPr>
          <a:xfrm>
            <a:off x="7243877" y="1979219"/>
            <a:ext cx="439826" cy="439826"/>
          </a:xfrm>
          <a:prstGeom prst="rect">
            <a:avLst/>
          </a:prstGeom>
        </p:spPr>
      </p:pic>
      <p:sp>
        <p:nvSpPr>
          <p:cNvPr id="22" name="Text 16"/>
          <p:cNvSpPr/>
          <p:nvPr/>
        </p:nvSpPr>
        <p:spPr>
          <a:xfrm>
            <a:off x="6217920" y="2578608"/>
            <a:ext cx="2537460" cy="64008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Correlation Engine</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(Rules, ML, Threat Intel)</a:t>
            </a:r>
            <a:endParaRPr lang="en-US" sz="1050" dirty="0"/>
          </a:p>
        </p:txBody>
      </p:sp>
      <p:sp>
        <p:nvSpPr>
          <p:cNvPr id="23" name="Shape 17"/>
          <p:cNvSpPr/>
          <p:nvPr/>
        </p:nvSpPr>
        <p:spPr>
          <a:xfrm>
            <a:off x="8801100" y="2386584"/>
            <a:ext cx="201168" cy="164592"/>
          </a:xfrm>
          <a:prstGeom prst="rightArrow">
            <a:avLst/>
          </a:prstGeom>
          <a:solidFill>
            <a:srgbClr val="22D3EE"/>
          </a:solidFill>
          <a:ln/>
        </p:spPr>
      </p:sp>
      <p:sp>
        <p:nvSpPr>
          <p:cNvPr id="24" name="Shape 18"/>
          <p:cNvSpPr/>
          <p:nvPr/>
        </p:nvSpPr>
        <p:spPr>
          <a:xfrm>
            <a:off x="8983980" y="1737360"/>
            <a:ext cx="2628900" cy="1554480"/>
          </a:xfrm>
          <a:prstGeom prst="roundRect">
            <a:avLst>
              <a:gd name="adj" fmla="val 4706"/>
            </a:avLst>
          </a:prstGeom>
          <a:solidFill>
            <a:srgbClr val="FFFFFF"/>
          </a:solidFill>
          <a:ln/>
          <a:effectLst>
            <a:outerShdw blurRad="101600" dist="25400" dir="5400000" algn="bl" rotWithShape="0">
              <a:srgbClr val="1B2635">
                <a:alpha val="10000"/>
              </a:srgbClr>
            </a:outerShdw>
          </a:effectLst>
        </p:spPr>
      </p:sp>
      <p:sp>
        <p:nvSpPr>
          <p:cNvPr id="25" name="Shape 19"/>
          <p:cNvSpPr/>
          <p:nvPr/>
        </p:nvSpPr>
        <p:spPr>
          <a:xfrm>
            <a:off x="9978390" y="1901952"/>
            <a:ext cx="594360" cy="594360"/>
          </a:xfrm>
          <a:prstGeom prst="ellipse">
            <a:avLst/>
          </a:prstGeom>
          <a:solidFill>
            <a:srgbClr val="EAF6FB"/>
          </a:solidFill>
          <a:ln/>
        </p:spPr>
      </p:sp>
      <p:pic>
        <p:nvPicPr>
          <p:cNvPr id="26" name="Image 4" descr="/home/claude/devsecops5/icons/bar_navy.png"/>
          <p:cNvPicPr>
            <a:picLocks noChangeAspect="1"/>
          </p:cNvPicPr>
          <p:nvPr/>
        </p:nvPicPr>
        <p:blipFill>
          <a:blip r:embed="rId6"/>
          <a:stretch>
            <a:fillRect/>
          </a:stretch>
        </p:blipFill>
        <p:spPr>
          <a:xfrm>
            <a:off x="10055657" y="1979219"/>
            <a:ext cx="439826" cy="439826"/>
          </a:xfrm>
          <a:prstGeom prst="rect">
            <a:avLst/>
          </a:prstGeom>
        </p:spPr>
      </p:pic>
      <p:sp>
        <p:nvSpPr>
          <p:cNvPr id="27" name="Text 20"/>
          <p:cNvSpPr/>
          <p:nvPr/>
        </p:nvSpPr>
        <p:spPr>
          <a:xfrm>
            <a:off x="9029700" y="2578608"/>
            <a:ext cx="2537460" cy="640080"/>
          </a:xfrm>
          <a:prstGeom prst="rect">
            <a:avLst/>
          </a:prstGeom>
          <a:noFill/>
          <a:ln/>
        </p:spPr>
        <p:txBody>
          <a:bodyPr wrap="square" lIns="0" tIns="0" rIns="0" bIns="0" rtlCol="0" anchor="t"/>
          <a:lstStyle/>
          <a:p>
            <a:pPr marL="0" indent="0" algn="ctr">
              <a:buNone/>
            </a:pPr>
            <a:r>
              <a:rPr lang="en-US" sz="1050" b="1" dirty="0">
                <a:solidFill>
                  <a:srgbClr val="0B1F3A"/>
                </a:solidFill>
                <a:latin typeface="Calibri" pitchFamily="34" charset="0"/>
                <a:ea typeface="Calibri" pitchFamily="34" charset="-122"/>
                <a:cs typeface="Calibri" pitchFamily="34" charset="-120"/>
              </a:rPr>
              <a:t>Dashboard, Alerts,</a:t>
            </a:r>
            <a:endParaRPr lang="en-US" sz="1050" dirty="0"/>
          </a:p>
          <a:p>
            <a:pPr marL="0" indent="0" algn="ctr">
              <a:buNone/>
            </a:pPr>
            <a:r>
              <a:rPr lang="en-US" sz="1050" b="1" dirty="0">
                <a:solidFill>
                  <a:srgbClr val="0B1F3A"/>
                </a:solidFill>
                <a:latin typeface="Calibri" pitchFamily="34" charset="0"/>
                <a:ea typeface="Calibri" pitchFamily="34" charset="-122"/>
                <a:cs typeface="Calibri" pitchFamily="34" charset="-120"/>
              </a:rPr>
              <a:t>Case Management</a:t>
            </a:r>
            <a:endParaRPr lang="en-US" sz="1050" dirty="0"/>
          </a:p>
        </p:txBody>
      </p:sp>
      <p:sp>
        <p:nvSpPr>
          <p:cNvPr id="28" name="Shape 21"/>
          <p:cNvSpPr/>
          <p:nvPr/>
        </p:nvSpPr>
        <p:spPr>
          <a:xfrm>
            <a:off x="548640" y="3703320"/>
            <a:ext cx="2628900" cy="502920"/>
          </a:xfrm>
          <a:prstGeom prst="roundRect">
            <a:avLst>
              <a:gd name="adj" fmla="val 50000"/>
            </a:avLst>
          </a:prstGeom>
          <a:solidFill>
            <a:srgbClr val="EAF6FB"/>
          </a:solidFill>
          <a:ln/>
        </p:spPr>
      </p:sp>
      <p:sp>
        <p:nvSpPr>
          <p:cNvPr id="29" name="Text 22"/>
          <p:cNvSpPr/>
          <p:nvPr/>
        </p:nvSpPr>
        <p:spPr>
          <a:xfrm>
            <a:off x="548640" y="3703320"/>
            <a:ext cx="2628900" cy="502920"/>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Splunk</a:t>
            </a:r>
            <a:endParaRPr lang="en-US" sz="1100" dirty="0"/>
          </a:p>
        </p:txBody>
      </p:sp>
      <p:sp>
        <p:nvSpPr>
          <p:cNvPr id="30" name="Shape 23"/>
          <p:cNvSpPr/>
          <p:nvPr/>
        </p:nvSpPr>
        <p:spPr>
          <a:xfrm>
            <a:off x="3360420" y="3703320"/>
            <a:ext cx="2628900" cy="502920"/>
          </a:xfrm>
          <a:prstGeom prst="roundRect">
            <a:avLst>
              <a:gd name="adj" fmla="val 50000"/>
            </a:avLst>
          </a:prstGeom>
          <a:solidFill>
            <a:srgbClr val="EAF6FB"/>
          </a:solidFill>
          <a:ln/>
        </p:spPr>
      </p:sp>
      <p:sp>
        <p:nvSpPr>
          <p:cNvPr id="31" name="Text 24"/>
          <p:cNvSpPr/>
          <p:nvPr/>
        </p:nvSpPr>
        <p:spPr>
          <a:xfrm>
            <a:off x="3360420" y="3703320"/>
            <a:ext cx="2628900" cy="502920"/>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Elastic SIEM</a:t>
            </a:r>
            <a:endParaRPr lang="en-US" sz="1100" dirty="0"/>
          </a:p>
        </p:txBody>
      </p:sp>
      <p:sp>
        <p:nvSpPr>
          <p:cNvPr id="32" name="Shape 25"/>
          <p:cNvSpPr/>
          <p:nvPr/>
        </p:nvSpPr>
        <p:spPr>
          <a:xfrm>
            <a:off x="6172200" y="3703320"/>
            <a:ext cx="2628900" cy="502920"/>
          </a:xfrm>
          <a:prstGeom prst="roundRect">
            <a:avLst>
              <a:gd name="adj" fmla="val 50000"/>
            </a:avLst>
          </a:prstGeom>
          <a:solidFill>
            <a:srgbClr val="EAF6FB"/>
          </a:solidFill>
          <a:ln/>
        </p:spPr>
      </p:sp>
      <p:sp>
        <p:nvSpPr>
          <p:cNvPr id="33" name="Text 26"/>
          <p:cNvSpPr/>
          <p:nvPr/>
        </p:nvSpPr>
        <p:spPr>
          <a:xfrm>
            <a:off x="6172200" y="3703320"/>
            <a:ext cx="2628900" cy="502920"/>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Microsoft Sentinel</a:t>
            </a:r>
            <a:endParaRPr lang="en-US" sz="1100" dirty="0"/>
          </a:p>
        </p:txBody>
      </p:sp>
      <p:sp>
        <p:nvSpPr>
          <p:cNvPr id="34" name="Shape 27"/>
          <p:cNvSpPr/>
          <p:nvPr/>
        </p:nvSpPr>
        <p:spPr>
          <a:xfrm>
            <a:off x="8983980" y="3703320"/>
            <a:ext cx="2628900" cy="502920"/>
          </a:xfrm>
          <a:prstGeom prst="roundRect">
            <a:avLst>
              <a:gd name="adj" fmla="val 50000"/>
            </a:avLst>
          </a:prstGeom>
          <a:solidFill>
            <a:srgbClr val="EAF6FB"/>
          </a:solidFill>
          <a:ln/>
        </p:spPr>
      </p:sp>
      <p:sp>
        <p:nvSpPr>
          <p:cNvPr id="35" name="Text 28"/>
          <p:cNvSpPr/>
          <p:nvPr/>
        </p:nvSpPr>
        <p:spPr>
          <a:xfrm>
            <a:off x="8983980" y="3703320"/>
            <a:ext cx="2628900" cy="502920"/>
          </a:xfrm>
          <a:prstGeom prst="rect">
            <a:avLst/>
          </a:prstGeom>
          <a:noFill/>
          <a:ln/>
        </p:spPr>
        <p:txBody>
          <a:bodyPr wrap="square" lIns="0" tIns="0" rIns="0" bIns="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IBM QRadar</a:t>
            </a:r>
            <a:endParaRPr lang="en-US" sz="1100" dirty="0"/>
          </a:p>
        </p:txBody>
      </p:sp>
      <p:sp>
        <p:nvSpPr>
          <p:cNvPr id="36" name="Text 29"/>
          <p:cNvSpPr/>
          <p:nvPr/>
        </p:nvSpPr>
        <p:spPr>
          <a:xfrm>
            <a:off x="548640" y="4434840"/>
            <a:ext cx="11064240" cy="1737360"/>
          </a:xfrm>
          <a:prstGeom prst="rect">
            <a:avLst/>
          </a:prstGeom>
          <a:noFill/>
          <a:ln/>
        </p:spPr>
        <p:txBody>
          <a:bodyPr wrap="square" rtlCol="0" anchor="t"/>
          <a:lstStyle/>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A SIEM centralizes Security Information Management (long-term storage/reporting) and Security Event Management (real-time analysis)</a:t>
            </a:r>
            <a:endParaRPr lang="en-US" sz="1350" dirty="0"/>
          </a:p>
          <a:p>
            <a:pPr marL="228600" indent="-228600">
              <a:lnSpc>
                <a:spcPct val="115000"/>
              </a:lnSpc>
              <a:spcAft>
                <a:spcPts val="1200"/>
              </a:spcAft>
              <a:buSzPct val="100000"/>
              <a:buChar char="▪"/>
            </a:pPr>
            <a:r>
              <a:rPr lang="en-US" sz="1350" dirty="0">
                <a:solidFill>
                  <a:srgbClr val="1B2635"/>
                </a:solidFill>
                <a:latin typeface="Calibri" pitchFamily="34" charset="0"/>
                <a:ea typeface="Calibri" pitchFamily="34" charset="-122"/>
                <a:cs typeface="Calibri" pitchFamily="34" charset="-120"/>
              </a:rPr>
              <a:t>SIEM correlates; SOAR (Security Orchestration, Automation, and Response) automates the resulting action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0F6FB3">
              <a:alpha val="22000"/>
            </a:srgbClr>
          </a:solidFill>
          <a:ln/>
        </p:spPr>
      </p:sp>
      <p:sp>
        <p:nvSpPr>
          <p:cNvPr id="3" name="Shape 1"/>
          <p:cNvSpPr/>
          <p:nvPr/>
        </p:nvSpPr>
        <p:spPr>
          <a:xfrm>
            <a:off x="9875520" y="4206240"/>
            <a:ext cx="3840480" cy="3840480"/>
          </a:xfrm>
          <a:prstGeom prst="ellipse">
            <a:avLst/>
          </a:prstGeom>
          <a:solidFill>
            <a:srgbClr val="22D3EE">
              <a:alpha val="15000"/>
            </a:srgbClr>
          </a:solidFill>
          <a:ln/>
        </p:spPr>
      </p:sp>
      <p:sp>
        <p:nvSpPr>
          <p:cNvPr id="4" name="Shape 2"/>
          <p:cNvSpPr/>
          <p:nvPr/>
        </p:nvSpPr>
        <p:spPr>
          <a:xfrm>
            <a:off x="5623560" y="1051560"/>
            <a:ext cx="1188720" cy="1188720"/>
          </a:xfrm>
          <a:prstGeom prst="ellipse">
            <a:avLst/>
          </a:prstGeom>
          <a:solidFill>
            <a:srgbClr val="132B4E"/>
          </a:solidFill>
          <a:ln/>
        </p:spPr>
      </p:sp>
      <p:pic>
        <p:nvPicPr>
          <p:cNvPr id="5" name="Image 0" descr="/home/claude/devsecops5/icons/eye_cyan.png"/>
          <p:cNvPicPr>
            <a:picLocks noChangeAspect="1"/>
          </p:cNvPicPr>
          <p:nvPr/>
        </p:nvPicPr>
        <p:blipFill>
          <a:blip r:embed="rId3"/>
          <a:stretch>
            <a:fillRect/>
          </a:stretch>
        </p:blipFill>
        <p:spPr>
          <a:xfrm>
            <a:off x="5778094" y="1206094"/>
            <a:ext cx="879653" cy="879653"/>
          </a:xfrm>
          <a:prstGeom prst="rect">
            <a:avLst/>
          </a:prstGeom>
        </p:spPr>
      </p:pic>
      <p:sp>
        <p:nvSpPr>
          <p:cNvPr id="6" name="Text 3"/>
          <p:cNvSpPr/>
          <p:nvPr/>
        </p:nvSpPr>
        <p:spPr>
          <a:xfrm>
            <a:off x="822960" y="2468880"/>
            <a:ext cx="10515600" cy="91440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7" name="Text 4"/>
          <p:cNvSpPr/>
          <p:nvPr/>
        </p:nvSpPr>
        <p:spPr>
          <a:xfrm>
            <a:off x="822960" y="3337560"/>
            <a:ext cx="10515600" cy="548640"/>
          </a:xfrm>
          <a:prstGeom prst="rect">
            <a:avLst/>
          </a:prstGeom>
          <a:noFill/>
          <a:ln/>
        </p:spPr>
        <p:txBody>
          <a:bodyPr wrap="square" lIns="0" tIns="0" rIns="0" bIns="0" rtlCol="0" anchor="ctr"/>
          <a:lstStyle/>
          <a:p>
            <a:pPr marL="0" indent="0" algn="ctr">
              <a:buNone/>
            </a:pPr>
            <a:r>
              <a:rPr lang="en-US" sz="2000" dirty="0">
                <a:solidFill>
                  <a:srgbClr val="22D3EE"/>
                </a:solidFill>
                <a:latin typeface="Calibri" pitchFamily="34" charset="0"/>
                <a:ea typeface="Calibri" pitchFamily="34" charset="-122"/>
                <a:cs typeface="Calibri" pitchFamily="34" charset="-120"/>
              </a:rPr>
              <a:t>Questions?</a:t>
            </a:r>
            <a:endParaRPr lang="en-US" sz="2000" dirty="0"/>
          </a:p>
        </p:txBody>
      </p:sp>
      <p:sp>
        <p:nvSpPr>
          <p:cNvPr id="8" name="Shape 5"/>
          <p:cNvSpPr/>
          <p:nvPr/>
        </p:nvSpPr>
        <p:spPr>
          <a:xfrm>
            <a:off x="4251960" y="4206240"/>
            <a:ext cx="3657600" cy="0"/>
          </a:xfrm>
          <a:prstGeom prst="line">
            <a:avLst/>
          </a:prstGeom>
          <a:noFill/>
          <a:ln w="12700">
            <a:solidFill>
              <a:srgbClr val="3A4A66"/>
            </a:solidFill>
            <a:prstDash val="solid"/>
          </a:ln>
        </p:spPr>
      </p:sp>
      <p:sp>
        <p:nvSpPr>
          <p:cNvPr id="9" name="Text 6"/>
          <p:cNvSpPr/>
          <p:nvPr/>
        </p:nvSpPr>
        <p:spPr>
          <a:xfrm>
            <a:off x="822960" y="4434840"/>
            <a:ext cx="10515600" cy="320040"/>
          </a:xfrm>
          <a:prstGeom prst="rect">
            <a:avLst/>
          </a:prstGeom>
          <a:noFill/>
          <a:ln/>
        </p:spPr>
        <p:txBody>
          <a:bodyPr wrap="square" lIns="0" tIns="0" rIns="0" bIns="0" rtlCol="0" anchor="ctr"/>
          <a:lstStyle/>
          <a:p>
            <a:pPr marL="0" indent="0" algn="ctr">
              <a:buNone/>
            </a:pPr>
            <a:r>
              <a:rPr lang="en-US" sz="1200" dirty="0">
                <a:solidFill>
                  <a:srgbClr val="E7ECF3"/>
                </a:solidFill>
                <a:latin typeface="Calibri" pitchFamily="34" charset="0"/>
                <a:ea typeface="Calibri" pitchFamily="34" charset="-122"/>
                <a:cs typeface="Calibri" pitchFamily="34" charset="-120"/>
              </a:rPr>
              <a:t>CSA58 | DevSecOps Engineering and Application Security | Unit V</a:t>
            </a:r>
            <a:endParaRPr lang="en-US" sz="1200" dirty="0"/>
          </a:p>
        </p:txBody>
      </p:sp>
      <p:sp>
        <p:nvSpPr>
          <p:cNvPr id="10" name="Text 7"/>
          <p:cNvSpPr/>
          <p:nvPr/>
        </p:nvSpPr>
        <p:spPr>
          <a:xfrm>
            <a:off x="822960" y="4800600"/>
            <a:ext cx="10515600" cy="32004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Contact: (Email / Institution Contact Placeholder)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896</Words>
  <Application>Microsoft Office PowerPoint</Application>
  <PresentationFormat>Widescreen</PresentationFormat>
  <Paragraphs>147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CSA58 - DevSecOps Engineering and Application Security - Unit V</dc:title>
  <dc:subject>PptxGenJS Presentation</dc:subject>
  <dc:creator>Nexus Tech Solutions</dc:creator>
  <cp:lastModifiedBy>ezhil saravanan</cp:lastModifiedBy>
  <cp:revision>4</cp:revision>
  <dcterms:created xsi:type="dcterms:W3CDTF">2026-07-27T18:38:54Z</dcterms:created>
  <dcterms:modified xsi:type="dcterms:W3CDTF">2026-08-27T03:59:59Z</dcterms:modified>
</cp:coreProperties>
</file>